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77" r:id="rId10"/>
    <p:sldId id="278" r:id="rId11"/>
    <p:sldId id="279" r:id="rId12"/>
    <p:sldId id="280" r:id="rId13"/>
    <p:sldId id="264" r:id="rId14"/>
    <p:sldId id="265" r:id="rId15"/>
    <p:sldId id="266"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3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13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9097-E85D-4CF8-9255-9935DE0993C4}" type="datetimeFigureOut">
              <a:rPr lang="en-US" smtClean="0"/>
              <a:t>4/15/2026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0DD7B-3341-4CAB-AE1D-CE18F97B84E7}" type="slidenum">
              <a:rPr lang="en-US" smtClean="0"/>
              <a:t>‹#›</a:t>
            </a:fld>
            <a:endParaRPr lang="en-US"/>
          </a:p>
        </p:txBody>
      </p:sp>
    </p:spTree>
    <p:extLst>
      <p:ext uri="{BB962C8B-B14F-4D97-AF65-F5344CB8AC3E}">
        <p14:creationId xmlns:p14="http://schemas.microsoft.com/office/powerpoint/2010/main" val="402471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4/15/2026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415457"/>
            <a:ext cx="7086600" cy="3262901"/>
          </a:xfrm>
        </p:spPr>
        <p:txBody>
          <a:bodyPr>
            <a:normAutofit fontScale="90000"/>
          </a:bodyPr>
          <a:lstStyle/>
          <a:p>
            <a:pPr algn="ctr"/>
            <a:r>
              <a:rPr lang="en-US" sz="2400" b="1" dirty="0">
                <a:latin typeface="Times New Roman" pitchFamily="18" charset="0"/>
                <a:cs typeface="Times New Roman" pitchFamily="18" charset="0"/>
              </a:rPr>
              <a:t>1</a:t>
            </a:r>
            <a:r>
              <a:rPr lang="en-US" sz="2400" b="1" baseline="30000" dirty="0">
                <a:latin typeface="Times New Roman" pitchFamily="18" charset="0"/>
                <a:cs typeface="Times New Roman" pitchFamily="18" charset="0"/>
              </a:rPr>
              <a:t>st</a:t>
            </a:r>
            <a:r>
              <a:rPr lang="en-US" sz="2400" b="1" dirty="0">
                <a:latin typeface="Times New Roman" pitchFamily="18" charset="0"/>
                <a:cs typeface="Times New Roman" pitchFamily="18" charset="0"/>
              </a:rPr>
              <a:t> National Conference on Sustainable Civil Engineering &amp; Geospatial Technologies: Materials &amp; Innovations for Climate Resilience</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(NCRT-SCE 2026)</a:t>
            </a:r>
            <a:br>
              <a:rPr lang="en-US" sz="2800" b="1" dirty="0">
                <a:latin typeface="Times New Roman" pitchFamily="18" charset="0"/>
                <a:cs typeface="Times New Roman" pitchFamily="18" charset="0"/>
              </a:rPr>
            </a:br>
            <a:br>
              <a:rPr lang="en-US" sz="2800" b="1" dirty="0">
                <a:latin typeface="Times New Roman" pitchFamily="18" charset="0"/>
                <a:cs typeface="Times New Roman" pitchFamily="18" charset="0"/>
              </a:rPr>
            </a:br>
            <a:r>
              <a:rPr lang="en-US" sz="2400" b="1" dirty="0">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Buddha Institute of  Technology </a:t>
            </a:r>
            <a:br>
              <a:rPr lang="en-US" sz="2400" b="1" dirty="0">
                <a:solidFill>
                  <a:srgbClr val="0070C0"/>
                </a:solidFill>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GIDA, Gorakhpur </a:t>
            </a:r>
            <a:br>
              <a:rPr lang="en-US" sz="2400" b="1" dirty="0">
                <a:solidFill>
                  <a:srgbClr val="0070C0"/>
                </a:solidFill>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Date of Conference: 15</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 16</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April 2026</a:t>
            </a:r>
            <a:endParaRPr lang="en-US" sz="3600" dirty="0">
              <a:latin typeface="Times New Roman" pitchFamily="18" charset="0"/>
              <a:cs typeface="Times New Roman" pitchFamily="18" charset="0"/>
            </a:endParaRPr>
          </a:p>
        </p:txBody>
      </p:sp>
      <p:pic>
        <p:nvPicPr>
          <p:cNvPr id="5" name="Picture 4"/>
          <p:cNvPicPr>
            <a:picLocks noChangeAspect="1"/>
          </p:cNvPicPr>
          <p:nvPr/>
        </p:nvPicPr>
        <p:blipFill>
          <a:blip r:embed="rId2"/>
          <a:stretch>
            <a:fillRect/>
          </a:stretch>
        </p:blipFill>
        <p:spPr>
          <a:xfrm>
            <a:off x="228600" y="304800"/>
            <a:ext cx="1610544" cy="1451759"/>
          </a:xfrm>
          <a:prstGeom prst="rect">
            <a:avLst/>
          </a:prstGeom>
        </p:spPr>
      </p:pic>
      <p:sp>
        <p:nvSpPr>
          <p:cNvPr id="7" name="Text Placeholder 3"/>
          <p:cNvSpPr txBox="1">
            <a:spLocks/>
          </p:cNvSpPr>
          <p:nvPr/>
        </p:nvSpPr>
        <p:spPr>
          <a:xfrm>
            <a:off x="6096000" y="5105399"/>
            <a:ext cx="3159303" cy="1482075"/>
          </a:xfrm>
          <a:prstGeom prst="rect">
            <a:avLst/>
          </a:prstGeom>
        </p:spPr>
        <p:txBody>
          <a:bodyPr>
            <a:noAutofit/>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lgn="ctr">
              <a:buNone/>
            </a:pPr>
            <a:r>
              <a:rPr lang="en-US" sz="1800" b="1" dirty="0">
                <a:solidFill>
                  <a:schemeClr val="tx1">
                    <a:lumMod val="65000"/>
                    <a:lumOff val="35000"/>
                  </a:schemeClr>
                </a:solidFill>
                <a:latin typeface="Times New Roman" pitchFamily="18" charset="0"/>
                <a:cs typeface="Times New Roman" pitchFamily="18" charset="0"/>
              </a:rPr>
              <a:t>Presented By: </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Saurav Dubey</a:t>
            </a:r>
          </a:p>
          <a:p>
            <a:pPr marL="82296" indent="0" algn="ctr">
              <a:buNone/>
            </a:pPr>
            <a:r>
              <a:rPr lang="en-US" sz="1800">
                <a:solidFill>
                  <a:schemeClr val="tx1">
                    <a:lumMod val="65000"/>
                    <a:lumOff val="35000"/>
                  </a:schemeClr>
                </a:solidFill>
                <a:latin typeface="Times New Roman" pitchFamily="18" charset="0"/>
                <a:cs typeface="Times New Roman" pitchFamily="18" charset="0"/>
              </a:rPr>
              <a:t>2305250009019</a:t>
            </a:r>
            <a:endParaRPr lang="en-US" sz="1800" dirty="0">
              <a:solidFill>
                <a:schemeClr val="tx1">
                  <a:lumMod val="65000"/>
                  <a:lumOff val="35000"/>
                </a:schemeClr>
              </a:solidFill>
              <a:latin typeface="Times New Roman" pitchFamily="18" charset="0"/>
              <a:cs typeface="Times New Roman" pitchFamily="18" charset="0"/>
            </a:endParaRP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4</a:t>
            </a:r>
            <a:r>
              <a:rPr lang="en-US" sz="1800" baseline="30000" dirty="0">
                <a:solidFill>
                  <a:schemeClr val="tx1">
                    <a:lumMod val="65000"/>
                    <a:lumOff val="35000"/>
                  </a:schemeClr>
                </a:solidFill>
                <a:latin typeface="Times New Roman" pitchFamily="18" charset="0"/>
                <a:cs typeface="Times New Roman" pitchFamily="18" charset="0"/>
              </a:rPr>
              <a:t>th</a:t>
            </a:r>
            <a:r>
              <a:rPr lang="en-US" sz="1800" dirty="0">
                <a:solidFill>
                  <a:schemeClr val="tx1">
                    <a:lumMod val="65000"/>
                    <a:lumOff val="35000"/>
                  </a:schemeClr>
                </a:solidFill>
                <a:latin typeface="Times New Roman" pitchFamily="18" charset="0"/>
                <a:cs typeface="Times New Roman" pitchFamily="18" charset="0"/>
              </a:rPr>
              <a:t>  Year</a:t>
            </a:r>
          </a:p>
        </p:txBody>
      </p:sp>
      <p:sp>
        <p:nvSpPr>
          <p:cNvPr id="8" name="Text Placeholder 3">
            <a:extLst>
              <a:ext uri="{FF2B5EF4-FFF2-40B4-BE49-F238E27FC236}">
                <a16:creationId xmlns:a16="http://schemas.microsoft.com/office/drawing/2014/main" id="{0125232B-5B54-02E3-4D0D-862665D5DDB4}"/>
              </a:ext>
            </a:extLst>
          </p:cNvPr>
          <p:cNvSpPr txBox="1">
            <a:spLocks/>
          </p:cNvSpPr>
          <p:nvPr/>
        </p:nvSpPr>
        <p:spPr>
          <a:xfrm>
            <a:off x="380999" y="5162999"/>
            <a:ext cx="3906175" cy="148207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lang="en-US" b="1" dirty="0">
                <a:latin typeface="Times New Roman" pitchFamily="18" charset="0"/>
                <a:cs typeface="Times New Roman" pitchFamily="18" charset="0"/>
              </a:rPr>
              <a:t>Under the Guidance</a:t>
            </a:r>
          </a:p>
          <a:p>
            <a:pPr algn="ctr"/>
            <a:r>
              <a:rPr lang="en-US" dirty="0">
                <a:latin typeface="Times New Roman" pitchFamily="18" charset="0"/>
                <a:cs typeface="Times New Roman" pitchFamily="18" charset="0"/>
              </a:rPr>
              <a:t>Mr. Rahul Kumar Shukla</a:t>
            </a:r>
          </a:p>
          <a:p>
            <a:pPr algn="ctr"/>
            <a:r>
              <a:rPr lang="en-US" dirty="0">
                <a:latin typeface="Times New Roman" pitchFamily="18" charset="0"/>
                <a:cs typeface="Times New Roman" pitchFamily="18" charset="0"/>
              </a:rPr>
              <a:t>Assistant Professor</a:t>
            </a:r>
          </a:p>
        </p:txBody>
      </p:sp>
      <p:sp>
        <p:nvSpPr>
          <p:cNvPr id="9" name="Footer Placeholder 3"/>
          <p:cNvSpPr txBox="1">
            <a:spLocks/>
          </p:cNvSpPr>
          <p:nvPr/>
        </p:nvSpPr>
        <p:spPr>
          <a:xfrm>
            <a:off x="2133600" y="6562051"/>
            <a:ext cx="5486400" cy="4572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latin typeface="Times New Roman" panose="02020603050405020304" pitchFamily="18" charset="0"/>
                <a:cs typeface="Times New Roman" panose="02020603050405020304" pitchFamily="18" charset="0"/>
              </a:rPr>
              <a:t> Department of Civil Engineering, BIT Gorakhpur</a:t>
            </a:r>
          </a:p>
          <a:p>
            <a:endParaRPr lang="en-US" sz="2400" dirty="0">
              <a:solidFill>
                <a:schemeClr val="tx1"/>
              </a:solidFill>
            </a:endParaRPr>
          </a:p>
        </p:txBody>
      </p:sp>
      <p:sp>
        <p:nvSpPr>
          <p:cNvPr id="11" name="TextBox 10">
            <a:extLst>
              <a:ext uri="{FF2B5EF4-FFF2-40B4-BE49-F238E27FC236}">
                <a16:creationId xmlns:a16="http://schemas.microsoft.com/office/drawing/2014/main" id="{7AE592A8-C203-D67E-9B8D-8D31A2974469}"/>
              </a:ext>
            </a:extLst>
          </p:cNvPr>
          <p:cNvSpPr txBox="1"/>
          <p:nvPr/>
        </p:nvSpPr>
        <p:spPr>
          <a:xfrm>
            <a:off x="1542853" y="3904527"/>
            <a:ext cx="7598790" cy="830997"/>
          </a:xfrm>
          <a:prstGeom prst="rect">
            <a:avLst/>
          </a:prstGeom>
          <a:noFill/>
        </p:spPr>
        <p:txBody>
          <a:bodyPr wrap="square">
            <a:spAutoFit/>
          </a:bodyPr>
          <a:lstStyle/>
          <a:p>
            <a:pPr marL="347980" marR="572135" algn="ctr"/>
            <a:r>
              <a:rPr lang="en-US" sz="2400" b="1" dirty="0">
                <a:latin typeface="Times New Roman" panose="02020603050405020304" pitchFamily="18" charset="0"/>
                <a:ea typeface="Times New Roman" panose="02020603050405020304" pitchFamily="18" charset="0"/>
              </a:rPr>
              <a:t>“</a:t>
            </a:r>
            <a:r>
              <a:rPr lang="en-US" sz="2400" b="1" dirty="0">
                <a:solidFill>
                  <a:schemeClr val="tx1"/>
                </a:solidFill>
                <a:latin typeface="Times New Roman" panose="02020603050405020304" pitchFamily="18" charset="0"/>
                <a:ea typeface="Times New Roman" panose="02020603050405020304" pitchFamily="18" charset="0"/>
              </a:rPr>
              <a:t>SHELL FIBRE : INNOVATIVE CONCRETE COMPOSITES ”</a:t>
            </a:r>
            <a:endParaRPr lang="en-IN" sz="2400" dirty="0">
              <a:solidFill>
                <a:schemeClr val="tx1"/>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4800"/>
            <a:ext cx="7406640" cy="783102"/>
          </a:xfrm>
        </p:spPr>
        <p:txBody>
          <a:bodyPr/>
          <a:lstStyle/>
          <a:p>
            <a:r>
              <a:rPr lang="en-US" dirty="0">
                <a:solidFill>
                  <a:srgbClr val="0070C0"/>
                </a:solidFill>
              </a:rPr>
              <a:t>Contents</a:t>
            </a:r>
            <a:endParaRPr lang="en-US" dirty="0"/>
          </a:p>
        </p:txBody>
      </p:sp>
      <p:sp>
        <p:nvSpPr>
          <p:cNvPr id="3" name="Subtitle 2"/>
          <p:cNvSpPr>
            <a:spLocks noGrp="1"/>
          </p:cNvSpPr>
          <p:nvPr>
            <p:ph type="subTitle" idx="1"/>
          </p:nvPr>
        </p:nvSpPr>
        <p:spPr>
          <a:xfrm>
            <a:off x="1524000" y="1562100"/>
            <a:ext cx="7406640" cy="3733800"/>
          </a:xfrm>
        </p:spPr>
        <p:txBody>
          <a:bodyPr>
            <a:noAutofit/>
          </a:bodyPr>
          <a:lstStyle/>
          <a:p>
            <a:pPr>
              <a:spcBef>
                <a:spcPts val="1200"/>
              </a:spcBef>
              <a:buFont typeface="Arial" panose="020B0604020202020204" pitchFamily="34" charset="0"/>
              <a:buChar char="•"/>
              <a:defRPr/>
            </a:pPr>
            <a:r>
              <a:rPr lang="en-US" sz="2000" dirty="0">
                <a:solidFill>
                  <a:schemeClr val="tx2">
                    <a:lumMod val="75000"/>
                  </a:schemeClr>
                </a:solidFill>
              </a:rPr>
              <a:t>Introduction</a:t>
            </a:r>
          </a:p>
          <a:p>
            <a:pPr>
              <a:spcBef>
                <a:spcPts val="1200"/>
              </a:spcBef>
              <a:buFont typeface="Arial" panose="020B0604020202020204" pitchFamily="34" charset="0"/>
              <a:buChar char="•"/>
              <a:defRPr/>
            </a:pPr>
            <a:r>
              <a:rPr lang="en-IN" sz="2000" dirty="0"/>
              <a:t>Problem Statement</a:t>
            </a:r>
          </a:p>
          <a:p>
            <a:pPr>
              <a:spcBef>
                <a:spcPts val="1200"/>
              </a:spcBef>
              <a:buFont typeface="Arial" panose="020B0604020202020204" pitchFamily="34" charset="0"/>
              <a:buChar char="•"/>
              <a:defRPr/>
            </a:pPr>
            <a:r>
              <a:rPr lang="en-IN" sz="2000" dirty="0"/>
              <a:t>Objectives</a:t>
            </a:r>
            <a:endParaRPr lang="en-US" sz="2000" dirty="0">
              <a:solidFill>
                <a:schemeClr val="tx2">
                  <a:lumMod val="75000"/>
                </a:schemeClr>
              </a:solidFill>
            </a:endParaRPr>
          </a:p>
          <a:p>
            <a:pPr>
              <a:spcBef>
                <a:spcPts val="1200"/>
              </a:spcBef>
              <a:buFont typeface="Arial" panose="020B0604020202020204" pitchFamily="34" charset="0"/>
              <a:buChar char="•"/>
              <a:defRPr/>
            </a:pPr>
            <a:r>
              <a:rPr lang="en-US" sz="2000" dirty="0">
                <a:solidFill>
                  <a:schemeClr val="tx2">
                    <a:lumMod val="75000"/>
                  </a:schemeClr>
                </a:solidFill>
              </a:rPr>
              <a:t>Literature Survey</a:t>
            </a:r>
          </a:p>
          <a:p>
            <a:pPr>
              <a:spcBef>
                <a:spcPts val="1200"/>
              </a:spcBef>
              <a:buFont typeface="Arial" panose="020B0604020202020204" pitchFamily="34" charset="0"/>
              <a:buChar char="•"/>
              <a:defRPr/>
            </a:pPr>
            <a:r>
              <a:rPr lang="en-US" sz="2000" dirty="0">
                <a:solidFill>
                  <a:schemeClr val="tx2">
                    <a:lumMod val="75000"/>
                  </a:schemeClr>
                </a:solidFill>
              </a:rPr>
              <a:t>Proposed Solution / Methodology</a:t>
            </a:r>
          </a:p>
          <a:p>
            <a:pPr>
              <a:spcBef>
                <a:spcPts val="1200"/>
              </a:spcBef>
              <a:buFont typeface="Arial" panose="020B0604020202020204" pitchFamily="34" charset="0"/>
              <a:buChar char="•"/>
              <a:defRPr/>
            </a:pPr>
            <a:r>
              <a:rPr lang="en-US" sz="2000" dirty="0">
                <a:solidFill>
                  <a:schemeClr val="tx2">
                    <a:lumMod val="75000"/>
                  </a:schemeClr>
                </a:solidFill>
              </a:rPr>
              <a:t>Results &amp; Analysis</a:t>
            </a:r>
          </a:p>
          <a:p>
            <a:pPr>
              <a:spcBef>
                <a:spcPts val="1200"/>
              </a:spcBef>
              <a:buFont typeface="Arial" panose="020B0604020202020204" pitchFamily="34" charset="0"/>
              <a:buChar char="•"/>
              <a:defRPr/>
            </a:pPr>
            <a:r>
              <a:rPr lang="en-US" sz="2000" dirty="0">
                <a:solidFill>
                  <a:schemeClr val="tx2">
                    <a:lumMod val="75000"/>
                  </a:schemeClr>
                </a:solidFill>
              </a:rPr>
              <a:t>Conclusion &amp; Future Work</a:t>
            </a:r>
          </a:p>
          <a:p>
            <a:pPr>
              <a:spcBef>
                <a:spcPts val="1200"/>
              </a:spcBef>
              <a:buFont typeface="Arial" panose="020B0604020202020204" pitchFamily="34" charset="0"/>
              <a:buChar char="•"/>
              <a:defRPr/>
            </a:pPr>
            <a:r>
              <a:rPr lang="en-US" sz="2000" dirty="0">
                <a:solidFill>
                  <a:schemeClr val="tx2">
                    <a:lumMod val="75000"/>
                  </a:schemeClr>
                </a:solidFill>
              </a:rPr>
              <a:t>Acknowledgements</a:t>
            </a:r>
          </a:p>
          <a:p>
            <a:pPr>
              <a:spcBef>
                <a:spcPts val="1200"/>
              </a:spcBef>
              <a:buFont typeface="Arial" panose="020B0604020202020204" pitchFamily="34" charset="0"/>
              <a:buChar char="•"/>
              <a:defRPr/>
            </a:pPr>
            <a:r>
              <a:rPr lang="en-US" sz="2000" dirty="0">
                <a:solidFill>
                  <a:schemeClr val="tx2">
                    <a:lumMod val="75000"/>
                  </a:schemeClr>
                </a:solidFill>
              </a:rPr>
              <a:t>References</a:t>
            </a:r>
          </a:p>
          <a:p>
            <a:endParaRPr lang="en-US" sz="2000" dirty="0"/>
          </a:p>
        </p:txBody>
      </p:sp>
      <p:pic>
        <p:nvPicPr>
          <p:cNvPr id="4" name="Picture 3"/>
          <p:cNvPicPr>
            <a:picLocks noChangeAspect="1"/>
          </p:cNvPicPr>
          <p:nvPr/>
        </p:nvPicPr>
        <p:blipFill>
          <a:blip r:embed="rId2"/>
          <a:stretch>
            <a:fillRect/>
          </a:stretch>
        </p:blipFill>
        <p:spPr>
          <a:xfrm>
            <a:off x="152400" y="138869"/>
            <a:ext cx="1563130" cy="14090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63452" y="1266054"/>
            <a:ext cx="7406640" cy="4906146"/>
          </a:xfrm>
        </p:spPr>
        <p:txBody>
          <a:bodyPr>
            <a:normAutofit fontScale="77500" lnSpcReduction="20000"/>
          </a:bodyPr>
          <a:lstStyle/>
          <a:p>
            <a:pPr algn="just">
              <a:lnSpc>
                <a:spcPct val="15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 Conventional concrete, a </a:t>
            </a:r>
            <a:r>
              <a:rPr lang="en-US" sz="2800" dirty="0">
                <a:latin typeface="Times New Roman" panose="02020603050405020304" pitchFamily="18" charset="0"/>
                <a:ea typeface="Times New Roman" panose="02020603050405020304" pitchFamily="18" charset="0"/>
              </a:rPr>
              <a:t>major change</a:t>
            </a:r>
            <a:r>
              <a:rPr lang="en-US" dirty="0">
                <a:latin typeface="Times New Roman" panose="02020603050405020304" pitchFamily="18" charset="0"/>
                <a:ea typeface="Times New Roman" panose="02020603050405020304" pitchFamily="18" charset="0"/>
              </a:rPr>
              <a:t> in modern construction, faces growing </a:t>
            </a:r>
            <a:r>
              <a:rPr lang="en-US" sz="2800" dirty="0">
                <a:latin typeface="Times New Roman" panose="02020603050405020304" pitchFamily="18" charset="0"/>
                <a:ea typeface="Times New Roman" panose="02020603050405020304" pitchFamily="18" charset="0"/>
              </a:rPr>
              <a:t>survey</a:t>
            </a:r>
            <a:r>
              <a:rPr lang="en-US" dirty="0">
                <a:latin typeface="Times New Roman" panose="02020603050405020304" pitchFamily="18" charset="0"/>
                <a:ea typeface="Times New Roman" panose="02020603050405020304" pitchFamily="18" charset="0"/>
              </a:rPr>
              <a:t> due to its substantial environmental impact, primarily from the extraction of natural aggregates and the energy-intensive production of cement.</a:t>
            </a:r>
          </a:p>
          <a:p>
            <a:pPr algn="just">
              <a:lnSpc>
                <a:spcPct val="17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This has </a:t>
            </a:r>
            <a:r>
              <a:rPr lang="en-US" sz="2800" dirty="0">
                <a:latin typeface="Times New Roman" panose="02020603050405020304" pitchFamily="18" charset="0"/>
                <a:ea typeface="Times New Roman" panose="02020603050405020304" pitchFamily="18" charset="0"/>
              </a:rPr>
              <a:t>encouraged</a:t>
            </a:r>
            <a:r>
              <a:rPr lang="en-US" dirty="0">
                <a:latin typeface="Times New Roman" panose="02020603050405020304" pitchFamily="18" charset="0"/>
                <a:ea typeface="Times New Roman" panose="02020603050405020304" pitchFamily="18" charset="0"/>
              </a:rPr>
              <a:t> a global shift towards sustainable construction practices that highlight the utilization of recycled materials and industrial or agricultural waste byproducts.</a:t>
            </a:r>
          </a:p>
          <a:p>
            <a:pPr algn="just">
              <a:lnSpc>
                <a:spcPct val="17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The incorporation of waste materials not only addresses disposal challenges but also has the potential to enhance specific properties of the concrete while reducing overall costs.</a:t>
            </a:r>
            <a:endParaRPr lang="en-IN" dirty="0">
              <a:latin typeface="Times New Roman" panose="02020603050405020304" pitchFamily="18" charset="0"/>
              <a:ea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0EA6B9D8-A275-E4AA-E376-54306A962185}"/>
              </a:ext>
            </a:extLst>
          </p:cNvPr>
          <p:cNvSpPr txBox="1">
            <a:spLocks/>
          </p:cNvSpPr>
          <p:nvPr/>
        </p:nvSpPr>
        <p:spPr>
          <a:xfrm>
            <a:off x="1338422" y="2963047"/>
            <a:ext cx="7726268" cy="1752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IN" dirty="0">
              <a:solidFill>
                <a:schemeClr val="tx1"/>
              </a:solidFill>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A7CAA173-1B2C-5E26-07FE-95B4DC920CC2}"/>
              </a:ext>
            </a:extLst>
          </p:cNvPr>
          <p:cNvSpPr txBox="1">
            <a:spLocks/>
          </p:cNvSpPr>
          <p:nvPr/>
        </p:nvSpPr>
        <p:spPr>
          <a:xfrm>
            <a:off x="1303638" y="4572000"/>
            <a:ext cx="7726268" cy="17526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I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C898-EE25-57C1-C86E-A59D09122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59E3-8475-1EA1-7A22-69F2989E02B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Problem Statement</a:t>
            </a:r>
            <a:endParaRPr lang="en-US" dirty="0"/>
          </a:p>
        </p:txBody>
      </p:sp>
      <p:pic>
        <p:nvPicPr>
          <p:cNvPr id="4" name="Picture 3">
            <a:extLst>
              <a:ext uri="{FF2B5EF4-FFF2-40B4-BE49-F238E27FC236}">
                <a16:creationId xmlns:a16="http://schemas.microsoft.com/office/drawing/2014/main" id="{617010BF-24AE-04E9-FE2F-B87EF594ECD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6E6A3FE3-78C0-206B-29F7-4F02D426AD4E}"/>
              </a:ext>
            </a:extLst>
          </p:cNvPr>
          <p:cNvSpPr txBox="1">
            <a:spLocks/>
          </p:cNvSpPr>
          <p:nvPr/>
        </p:nvSpPr>
        <p:spPr>
          <a:xfrm>
            <a:off x="1341532" y="1514478"/>
            <a:ext cx="7406640" cy="1407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9D5E95D3-93D3-6F15-351D-5333F27CEE92}"/>
              </a:ext>
            </a:extLst>
          </p:cNvPr>
          <p:cNvSpPr txBox="1">
            <a:spLocks/>
          </p:cNvSpPr>
          <p:nvPr/>
        </p:nvSpPr>
        <p:spPr>
          <a:xfrm>
            <a:off x="1341532" y="3117912"/>
            <a:ext cx="7406640" cy="1166244"/>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D91031E3-04EF-7F1D-2B67-13BAC138B697}"/>
              </a:ext>
            </a:extLst>
          </p:cNvPr>
          <p:cNvSpPr txBox="1">
            <a:spLocks/>
          </p:cNvSpPr>
          <p:nvPr/>
        </p:nvSpPr>
        <p:spPr>
          <a:xfrm>
            <a:off x="1341532" y="4506427"/>
            <a:ext cx="7406640" cy="1166244"/>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843B2A-8C6F-18AB-7618-30275D184410}"/>
              </a:ext>
            </a:extLst>
          </p:cNvPr>
          <p:cNvSpPr txBox="1"/>
          <p:nvPr/>
        </p:nvSpPr>
        <p:spPr>
          <a:xfrm>
            <a:off x="1211306" y="1560000"/>
            <a:ext cx="7780294" cy="4524315"/>
          </a:xfrm>
          <a:prstGeom prst="rect">
            <a:avLst/>
          </a:prstGeom>
          <a:noFill/>
        </p:spPr>
        <p:txBody>
          <a:bodyPr wrap="square">
            <a:spAutoFit/>
          </a:bodyPr>
          <a:lstStyle/>
          <a:p>
            <a:pPr algn="just">
              <a:buFont typeface="Courier New" panose="02070309020205020404" pitchFamily="49" charset="0"/>
              <a:buChar char="o"/>
            </a:pPr>
            <a:r>
              <a:rPr lang="en-US" sz="1800" dirty="0"/>
              <a:t>The primary problem statement is articulated by the following challenges and research gaps:</a:t>
            </a:r>
          </a:p>
          <a:p>
            <a:pPr algn="just">
              <a:buFont typeface="Courier New" panose="02070309020205020404" pitchFamily="49" charset="0"/>
              <a:buChar char="o"/>
            </a:pPr>
            <a:r>
              <a:rPr lang="en-US" sz="1800" b="1" dirty="0"/>
              <a:t>Environmental Degradation and Resource Depletion: </a:t>
            </a:r>
            <a:r>
              <a:rPr lang="en-US" sz="1800" dirty="0"/>
              <a:t>The conventional concrete industry heavily relies on natural coarse aggregates (gravel and granite), leading to rapid depletion of natural resources, environmental damage from quarrying, and ecological imbalance. </a:t>
            </a:r>
          </a:p>
          <a:p>
            <a:pPr algn="just">
              <a:buFont typeface="Courier New" panose="02070309020205020404" pitchFamily="49" charset="0"/>
              <a:buChar char="o"/>
            </a:pPr>
            <a:r>
              <a:rPr lang="en-US" sz="1800" b="1" dirty="0"/>
              <a:t>Performance Limitations of Standard Green Concrete: </a:t>
            </a:r>
            <a:r>
              <a:rPr lang="en-US" sz="1800" dirty="0"/>
              <a:t>While using coconut shells as a coarse aggregate replacement creates lightweight concrete (LWC), it also generally results in a reduction in compressive, tensile, and flexural strengths compared to standard concrete, especially at higher replacement percentages. </a:t>
            </a:r>
          </a:p>
          <a:p>
            <a:pPr algn="just">
              <a:buFont typeface="Courier New" panose="02070309020205020404" pitchFamily="49" charset="0"/>
              <a:buChar char="o"/>
            </a:pPr>
            <a:r>
              <a:rPr lang="en-US" sz="1800" b="1" dirty="0"/>
              <a:t>Material Property Variability and Durability Concerns: </a:t>
            </a:r>
            <a:r>
              <a:rPr lang="en-US" sz="1800" dirty="0"/>
              <a:t>Coconut shells have a significantly higher water absorption rate and greater material property variability than conventional aggregates, which can affect the concrete's workability, strength, and long-term durability (e.g., resistance to cracking and chemical attack).</a:t>
            </a:r>
          </a:p>
        </p:txBody>
      </p:sp>
    </p:spTree>
    <p:extLst>
      <p:ext uri="{BB962C8B-B14F-4D97-AF65-F5344CB8AC3E}">
        <p14:creationId xmlns:p14="http://schemas.microsoft.com/office/powerpoint/2010/main" val="379544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00C-D026-1CBE-7D43-6F350EBB0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5CA94-A1B7-679A-593A-58BB6FBC0F42}"/>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F167786-E93E-7FC6-4231-48C3B735E630}"/>
              </a:ext>
            </a:extLst>
          </p:cNvPr>
          <p:cNvSpPr>
            <a:spLocks noGrp="1"/>
          </p:cNvSpPr>
          <p:nvPr>
            <p:ph type="subTitle" idx="1"/>
          </p:nvPr>
        </p:nvSpPr>
        <p:spPr>
          <a:xfrm>
            <a:off x="1325048" y="1600200"/>
            <a:ext cx="7832948" cy="4038600"/>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Objective 1: </a:t>
            </a:r>
            <a:r>
              <a:rPr lang="en-US" sz="2000" dirty="0">
                <a:latin typeface="Times New Roman" panose="02020603050405020304" pitchFamily="18" charset="0"/>
                <a:cs typeface="Times New Roman" panose="02020603050405020304" pitchFamily="18" charset="0"/>
              </a:rPr>
              <a:t>Composites Waste Valorization: To repurpose industrial and agricultural waste (seashells, coconut shells) into high-value construction materials, reducing landfill pressure.</a:t>
            </a:r>
          </a:p>
          <a:p>
            <a:r>
              <a:rPr lang="en-US" b="1" dirty="0">
                <a:latin typeface="Times New Roman" panose="02020603050405020304" pitchFamily="18" charset="0"/>
                <a:cs typeface="Times New Roman" panose="02020603050405020304" pitchFamily="18" charset="0"/>
              </a:rPr>
              <a:t>Objective 2: </a:t>
            </a:r>
            <a:r>
              <a:rPr lang="en-US" sz="2000" dirty="0">
                <a:latin typeface="Times New Roman" panose="02020603050405020304" pitchFamily="18" charset="0"/>
                <a:cs typeface="Times New Roman" panose="02020603050405020304" pitchFamily="18" charset="0"/>
              </a:rPr>
              <a:t>Carbon Footprint Reduction: </a:t>
            </a:r>
            <a:r>
              <a:rPr lang="en-US" sz="2000" dirty="0" err="1">
                <a:latin typeface="Times New Roman" panose="02020603050405020304" pitchFamily="18" charset="0"/>
                <a:cs typeface="Times New Roman" panose="02020603050405020304" pitchFamily="18" charset="0"/>
              </a:rPr>
              <a:t>Tolower</a:t>
            </a:r>
            <a:r>
              <a:rPr lang="en-US" sz="2000" dirty="0">
                <a:latin typeface="Times New Roman" panose="02020603050405020304" pitchFamily="18" charset="0"/>
                <a:cs typeface="Times New Roman" panose="02020603050405020304" pitchFamily="18" charset="0"/>
              </a:rPr>
              <a:t> the environmental impact by replacing carbon-intensive natural aggregates with eco-friendly bio-fillers.</a:t>
            </a:r>
          </a:p>
          <a:p>
            <a:r>
              <a:rPr lang="en-US" b="1" dirty="0">
                <a:latin typeface="Times New Roman" panose="02020603050405020304" pitchFamily="18" charset="0"/>
                <a:cs typeface="Times New Roman" panose="02020603050405020304" pitchFamily="18" charset="0"/>
              </a:rPr>
              <a:t>Objective 3:</a:t>
            </a:r>
            <a:r>
              <a:rPr lang="en-US" sz="2000" dirty="0">
                <a:latin typeface="Times New Roman" panose="02020603050405020304" pitchFamily="18" charset="0"/>
                <a:cs typeface="Times New Roman" panose="02020603050405020304" pitchFamily="18" charset="0"/>
              </a:rPr>
              <a:t>Enhanced Tensile Strength: To utilize the fibrous and plate-like structure of shells to improve the concrete's ability to resist pulling forces and bending.</a:t>
            </a:r>
          </a:p>
          <a:p>
            <a:r>
              <a:rPr lang="en-US" b="1" dirty="0">
                <a:latin typeface="Times New Roman" panose="02020603050405020304" pitchFamily="18" charset="0"/>
                <a:cs typeface="Times New Roman" panose="02020603050405020304" pitchFamily="18" charset="0"/>
              </a:rPr>
              <a:t>Objective 4: </a:t>
            </a:r>
            <a:r>
              <a:rPr lang="en-US" sz="2400" dirty="0">
                <a:latin typeface="Times New Roman" panose="02020603050405020304" pitchFamily="18" charset="0"/>
                <a:cs typeface="Times New Roman" panose="02020603050405020304" pitchFamily="18" charset="0"/>
              </a:rPr>
              <a:t>Structural Weight Optimization: To produce lightweight concrete that reduces the overall dead load of a structure, leading to smaller foundation requirements.</a:t>
            </a:r>
          </a:p>
        </p:txBody>
      </p:sp>
      <p:pic>
        <p:nvPicPr>
          <p:cNvPr id="4" name="Picture 3">
            <a:extLst>
              <a:ext uri="{FF2B5EF4-FFF2-40B4-BE49-F238E27FC236}">
                <a16:creationId xmlns:a16="http://schemas.microsoft.com/office/drawing/2014/main" id="{EE891B4D-0338-375B-20C5-A4A95F220A86}"/>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00220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FB5E-3E34-BFF7-7088-83E6CF88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B080-8A67-B3F4-33DF-42350D960632}"/>
              </a:ext>
            </a:extLst>
          </p:cNvPr>
          <p:cNvSpPr>
            <a:spLocks noGrp="1"/>
          </p:cNvSpPr>
          <p:nvPr>
            <p:ph type="ctrTitle"/>
          </p:nvPr>
        </p:nvSpPr>
        <p:spPr>
          <a:xfrm>
            <a:off x="1447799" y="336848"/>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DFC313E-27A5-D813-EABF-EA41B429FFC0}"/>
              </a:ext>
            </a:extLst>
          </p:cNvPr>
          <p:cNvPicPr>
            <a:picLocks noChangeAspect="1"/>
          </p:cNvPicPr>
          <p:nvPr/>
        </p:nvPicPr>
        <p:blipFill>
          <a:blip r:embed="rId2"/>
          <a:stretch>
            <a:fillRect/>
          </a:stretch>
        </p:blipFill>
        <p:spPr>
          <a:xfrm>
            <a:off x="183503" y="37156"/>
            <a:ext cx="1561556" cy="1407600"/>
          </a:xfrm>
          <a:prstGeom prst="rect">
            <a:avLst/>
          </a:prstGeom>
        </p:spPr>
      </p:pic>
      <p:sp>
        <p:nvSpPr>
          <p:cNvPr id="5" name="TextBox 4">
            <a:extLst>
              <a:ext uri="{FF2B5EF4-FFF2-40B4-BE49-F238E27FC236}">
                <a16:creationId xmlns:a16="http://schemas.microsoft.com/office/drawing/2014/main" id="{70C2662E-E71D-5358-A7A2-55B4D109B176}"/>
              </a:ext>
            </a:extLst>
          </p:cNvPr>
          <p:cNvSpPr txBox="1"/>
          <p:nvPr/>
        </p:nvSpPr>
        <p:spPr>
          <a:xfrm>
            <a:off x="1257299" y="1444756"/>
            <a:ext cx="7543800" cy="3470437"/>
          </a:xfrm>
          <a:prstGeom prst="rect">
            <a:avLst/>
          </a:prstGeom>
          <a:noFill/>
        </p:spPr>
        <p:txBody>
          <a:bodyPr wrap="square">
            <a:spAutoFit/>
          </a:bodyPr>
          <a:lstStyle/>
          <a:p>
            <a:pPr marR="453390" algn="just">
              <a:lnSpc>
                <a:spcPct val="15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A literature survey on concrete incorporating coconut shells (CS) as a partial replacement for coarse aggregate and glass fibers (GF) as reinforcement.</a:t>
            </a:r>
          </a:p>
          <a:p>
            <a:pPr marR="453390" algn="just">
              <a:lnSpc>
                <a:spcPct val="20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It reveals significant potential for creating sustainable and lightweight construction materials with enhanced mechanical properties. </a:t>
            </a:r>
          </a:p>
          <a:p>
            <a:pPr marR="453390" algn="just">
              <a:lnSpc>
                <a:spcPct val="20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Research indicates that these materials offer a viable solution for managing agricultural waste and reducing reliance on natural aggregates.</a:t>
            </a:r>
          </a:p>
        </p:txBody>
      </p:sp>
    </p:spTree>
    <p:extLst>
      <p:ext uri="{BB962C8B-B14F-4D97-AF65-F5344CB8AC3E}">
        <p14:creationId xmlns:p14="http://schemas.microsoft.com/office/powerpoint/2010/main" val="336823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F862-0CBA-114F-E733-1FA3A2D41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38DD1-FE8B-FCFF-6BF2-68D75DFC6129}"/>
              </a:ext>
            </a:extLst>
          </p:cNvPr>
          <p:cNvSpPr>
            <a:spLocks noGrp="1"/>
          </p:cNvSpPr>
          <p:nvPr>
            <p:ph type="ctrTitle"/>
          </p:nvPr>
        </p:nvSpPr>
        <p:spPr>
          <a:xfrm>
            <a:off x="1463452" y="426548"/>
            <a:ext cx="7832948" cy="1326051"/>
          </a:xfrm>
        </p:spPr>
        <p:txBody>
          <a:bodyPr>
            <a:noAutofit/>
          </a:bodyPr>
          <a:lstStyle/>
          <a:p>
            <a:br>
              <a:rPr lang="en-US" dirty="0">
                <a:solidFill>
                  <a:srgbClr val="0070C0"/>
                </a:solidFill>
                <a:latin typeface="Times New Roman" panose="02020603050405020304" pitchFamily="18" charset="0"/>
                <a:cs typeface="Times New Roman" panose="02020603050405020304" pitchFamily="18" charset="0"/>
              </a:rPr>
            </a:br>
            <a:r>
              <a:rPr lang="en-US" dirty="0">
                <a:solidFill>
                  <a:srgbClr val="0070C0"/>
                </a:solidFill>
                <a:latin typeface="Times New Roman" panose="02020603050405020304" pitchFamily="18" charset="0"/>
                <a:cs typeface="Times New Roman" panose="02020603050405020304" pitchFamily="18" charset="0"/>
              </a:rPr>
              <a:t>Proposed Solution / Methodology</a:t>
            </a:r>
            <a:br>
              <a:rPr lang="en-US" sz="4400" dirty="0">
                <a:solidFill>
                  <a:schemeClr val="tx2">
                    <a:lumMod val="75000"/>
                  </a:schemeClr>
                </a:solidFill>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992DDD7-5100-04B4-067E-5143259705F4}"/>
              </a:ext>
            </a:extLst>
          </p:cNvPr>
          <p:cNvPicPr>
            <a:picLocks noChangeAspect="1"/>
          </p:cNvPicPr>
          <p:nvPr/>
        </p:nvPicPr>
        <p:blipFill>
          <a:blip r:embed="rId2"/>
          <a:stretch>
            <a:fillRect/>
          </a:stretch>
        </p:blipFill>
        <p:spPr>
          <a:xfrm>
            <a:off x="152400" y="152400"/>
            <a:ext cx="1561556" cy="1407600"/>
          </a:xfrm>
          <a:prstGeom prst="rect">
            <a:avLst/>
          </a:prstGeom>
        </p:spPr>
      </p:pic>
      <p:sp>
        <p:nvSpPr>
          <p:cNvPr id="6" name="TextBox 5">
            <a:extLst>
              <a:ext uri="{FF2B5EF4-FFF2-40B4-BE49-F238E27FC236}">
                <a16:creationId xmlns:a16="http://schemas.microsoft.com/office/drawing/2014/main" id="{8BD920EE-C162-2918-6771-EF2B85186B45}"/>
              </a:ext>
            </a:extLst>
          </p:cNvPr>
          <p:cNvSpPr txBox="1"/>
          <p:nvPr/>
        </p:nvSpPr>
        <p:spPr>
          <a:xfrm>
            <a:off x="966306" y="1550573"/>
            <a:ext cx="8025294" cy="4247317"/>
          </a:xfrm>
          <a:prstGeom prst="rect">
            <a:avLst/>
          </a:prstGeom>
          <a:noFill/>
        </p:spPr>
        <p:txBody>
          <a:bodyPr wrap="square">
            <a:spAutoFit/>
          </a:bodyPr>
          <a:lstStyle/>
          <a:p>
            <a:pPr algn="just">
              <a:buFont typeface="Courier New" panose="02070309020205020404" pitchFamily="49" charset="0"/>
              <a:buChar char="o"/>
            </a:pPr>
            <a:r>
              <a:rPr lang="en-US" sz="1800" dirty="0"/>
              <a:t>The methodology for creating concrete with coconut shell and glass </a:t>
            </a:r>
            <a:r>
              <a:rPr lang="en-US" sz="1800" dirty="0" err="1"/>
              <a:t>fibre</a:t>
            </a:r>
            <a:r>
              <a:rPr lang="en-US" sz="1800" dirty="0"/>
              <a:t> involves material preparation, mix design using a standard code of practice, mixing, casting, curing, and testing. The coconut shells act as a lightweight coarse aggregate replacement, and the glass </a:t>
            </a:r>
            <a:r>
              <a:rPr lang="en-US" sz="1800" dirty="0" err="1"/>
              <a:t>fibres</a:t>
            </a:r>
            <a:r>
              <a:rPr lang="en-US" sz="1800" dirty="0"/>
              <a:t> enhance the concrete's tensile and flexural properties. </a:t>
            </a:r>
          </a:p>
          <a:p>
            <a:pPr algn="just">
              <a:buFont typeface="Courier New" panose="02070309020205020404" pitchFamily="49" charset="0"/>
              <a:buChar char="o"/>
            </a:pPr>
            <a:r>
              <a:rPr lang="en-US" b="1" dirty="0"/>
              <a:t>Material Preparation</a:t>
            </a:r>
          </a:p>
          <a:p>
            <a:pPr algn="just">
              <a:buFont typeface="Courier New" panose="02070309020205020404" pitchFamily="49" charset="0"/>
              <a:buChar char="o"/>
            </a:pPr>
            <a:r>
              <a:rPr lang="en-US" sz="1800" b="1" dirty="0"/>
              <a:t>Coconut Shells (CS): </a:t>
            </a:r>
            <a:r>
              <a:rPr lang="en-US" sz="1800" dirty="0"/>
              <a:t>Acquire waste coconut shells, clean them to remove impurities, and air-dry them. Crush the shells to a specific size range, typically 4.75 mm to 12.5 mm or 12.5 mm to 20 mm, to be used as a partial replacement for conventional coarse aggregate. Due to high water absorption, the CS aggregates should be used in a Saturated Surface Dry (SSD) condition, often achieved by oven-drying to a constant weight and then accounting for absorption, or pre-soaking.</a:t>
            </a:r>
          </a:p>
          <a:p>
            <a:pPr algn="just">
              <a:buFont typeface="Courier New" panose="02070309020205020404" pitchFamily="49" charset="0"/>
              <a:buChar char="o"/>
            </a:pPr>
            <a:r>
              <a:rPr lang="en-US" sz="1800" b="1" dirty="0"/>
              <a:t>Glass Fibers (GF): </a:t>
            </a:r>
            <a:r>
              <a:rPr lang="en-US" sz="1800" dirty="0"/>
              <a:t>Use commercially available Alkali-Resistant (AR) glass fibers, typically with a length of 13 mm to 18 mm and varying aspect ratios. The fibers should be dispersed uniformly to avoid balling effects during mixing</a:t>
            </a:r>
          </a:p>
        </p:txBody>
      </p:sp>
    </p:spTree>
    <p:extLst>
      <p:ext uri="{BB962C8B-B14F-4D97-AF65-F5344CB8AC3E}">
        <p14:creationId xmlns:p14="http://schemas.microsoft.com/office/powerpoint/2010/main" val="211547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E806-6E3F-D641-CC45-C096B45A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5EF1-F5B9-B995-EEB0-94A429489E4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Results &amp; Analysis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FFC6859-FD29-DDAF-31EA-4CFA05E37B28}"/>
              </a:ext>
            </a:extLst>
          </p:cNvPr>
          <p:cNvPicPr>
            <a:picLocks noChangeAspect="1"/>
          </p:cNvPicPr>
          <p:nvPr/>
        </p:nvPicPr>
        <p:blipFill>
          <a:blip r:embed="rId2"/>
          <a:stretch>
            <a:fillRect/>
          </a:stretch>
        </p:blipFill>
        <p:spPr>
          <a:xfrm>
            <a:off x="152400" y="152400"/>
            <a:ext cx="1561556" cy="1407600"/>
          </a:xfrm>
          <a:prstGeom prst="rect">
            <a:avLst/>
          </a:prstGeom>
        </p:spPr>
      </p:pic>
      <p:sp>
        <p:nvSpPr>
          <p:cNvPr id="8" name="TextBox 7">
            <a:extLst>
              <a:ext uri="{FF2B5EF4-FFF2-40B4-BE49-F238E27FC236}">
                <a16:creationId xmlns:a16="http://schemas.microsoft.com/office/drawing/2014/main" id="{211824C4-22F0-251D-BB45-9FC86BDF80AC}"/>
              </a:ext>
            </a:extLst>
          </p:cNvPr>
          <p:cNvSpPr txBox="1"/>
          <p:nvPr/>
        </p:nvSpPr>
        <p:spPr>
          <a:xfrm>
            <a:off x="1371600" y="1375392"/>
            <a:ext cx="6712670" cy="2123658"/>
          </a:xfrm>
          <a:prstGeom prst="rect">
            <a:avLst/>
          </a:prstGeom>
          <a:noFill/>
        </p:spPr>
        <p:txBody>
          <a:bodyPr wrap="square">
            <a:spAutoFit/>
          </a:bodyPr>
          <a:lstStyle/>
          <a:p>
            <a:pPr marL="0" indent="0" algn="just">
              <a:buNone/>
            </a:pPr>
            <a:r>
              <a:rPr lang="en-US" b="1" dirty="0">
                <a:latin typeface="Times New Roman" panose="02020603050405020304" pitchFamily="18" charset="0"/>
                <a:ea typeface="Times New Roman" panose="02020603050405020304" pitchFamily="18" charset="0"/>
              </a:rPr>
              <a:t>Compressive Strength</a:t>
            </a:r>
          </a:p>
          <a:p>
            <a:pPr marL="0" indent="0" algn="just">
              <a:buNone/>
            </a:pPr>
            <a:r>
              <a:rPr lang="en-US" sz="1800" dirty="0">
                <a:latin typeface="Times New Roman" panose="02020603050405020304" pitchFamily="18" charset="0"/>
                <a:ea typeface="Times New Roman" panose="02020603050405020304" pitchFamily="18" charset="0"/>
              </a:rPr>
              <a:t>The compressive strength of concrete blocks made with a combination of glass fiber and coconut shell aggregate is highly variable, typically falling within the range of 10 N/mm² to 28 N/mm² at 28 days of curing, depending heavily on the specific mix proportions and percentages used.</a:t>
            </a:r>
          </a:p>
          <a:p>
            <a:pPr marL="0" indent="0" algn="just">
              <a:buNone/>
            </a:pPr>
            <a:endParaRPr lang="en-US" sz="1200" dirty="0">
              <a:latin typeface="Times New Roman" panose="02020603050405020304" pitchFamily="18" charset="0"/>
              <a:ea typeface="Times New Roman" panose="02020603050405020304" pitchFamily="18" charset="0"/>
            </a:endParaRPr>
          </a:p>
          <a:p>
            <a:pPr marL="0" indent="0" algn="just">
              <a:buNone/>
            </a:pPr>
            <a:endParaRPr lang="en-US" sz="1200" dirty="0">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2E40BBD7-B3EE-C9D7-2F96-B9A86B3DEA32}"/>
              </a:ext>
            </a:extLst>
          </p:cNvPr>
          <p:cNvSpPr/>
          <p:nvPr/>
        </p:nvSpPr>
        <p:spPr>
          <a:xfrm>
            <a:off x="1219201" y="3107464"/>
            <a:ext cx="7543800" cy="3508653"/>
          </a:xfrm>
          <a:prstGeom prst="rect">
            <a:avLst/>
          </a:prstGeom>
        </p:spPr>
        <p:txBody>
          <a:bodyPr wrap="square">
            <a:spAutoFit/>
          </a:bodyPr>
          <a:lstStyle/>
          <a:p>
            <a:r>
              <a:rPr lang="en-US" b="1" dirty="0"/>
              <a:t>Mix Design</a:t>
            </a:r>
          </a:p>
          <a:p>
            <a:r>
              <a:rPr lang="en-US" b="1" dirty="0"/>
              <a:t>Determine Proportions: </a:t>
            </a:r>
            <a:r>
              <a:rPr lang="en-US" dirty="0"/>
              <a:t>The mix proportions are designed to achieve a target compressive strength (e.g., M20, M30 grade) as per relevant standards like IS 10262, ASTM, or EN codes.</a:t>
            </a:r>
          </a:p>
          <a:p>
            <a:pPr marL="285750" indent="-285750" algn="just">
              <a:buFont typeface="Courier New" panose="02070309020205020404" pitchFamily="49" charset="0"/>
              <a:buChar char="o"/>
            </a:pPr>
            <a:r>
              <a:rPr lang="en-US" b="1" dirty="0"/>
              <a:t>Replacement Levels: </a:t>
            </a:r>
            <a:r>
              <a:rPr lang="en-US" dirty="0"/>
              <a:t>The coconut shells typically replace a percentage of the coarse aggregate (e.g., 15%, 30%, 45%, or up to 60%) by weight or volume.</a:t>
            </a:r>
          </a:p>
          <a:p>
            <a:pPr marL="285750" indent="-285750" algn="just">
              <a:buFont typeface="Courier New" panose="02070309020205020404" pitchFamily="49" charset="0"/>
              <a:buChar char="o"/>
            </a:pPr>
            <a:r>
              <a:rPr lang="en-US" b="1" dirty="0"/>
              <a:t>Fiber Content: </a:t>
            </a:r>
            <a:r>
              <a:rPr lang="en-US" dirty="0"/>
              <a:t>Glass fibers are typically added as a percentage of the total volume or weight of cement (e.g., 0.5%, 1.0%, 1.5%, or 2.0%).</a:t>
            </a:r>
          </a:p>
          <a:p>
            <a:pPr marL="285750" indent="-285750" algn="just">
              <a:buFont typeface="Courier New" panose="02070309020205020404" pitchFamily="49" charset="0"/>
              <a:buChar char="o"/>
            </a:pPr>
            <a:r>
              <a:rPr lang="en-US" b="1" dirty="0"/>
              <a:t>Optimize Additives: </a:t>
            </a:r>
            <a:r>
              <a:rPr lang="en-US" dirty="0"/>
              <a:t>A superplasticizer is crucial to improve the workability of the mix, which generally decreases with the addition of </a:t>
            </a:r>
            <a:r>
              <a:rPr lang="en-US" dirty="0" err="1"/>
              <a:t>fibres</a:t>
            </a:r>
            <a:r>
              <a:rPr lang="en-US" dirty="0"/>
              <a:t> and coconut shells. </a:t>
            </a:r>
          </a:p>
        </p:txBody>
      </p:sp>
    </p:spTree>
    <p:extLst>
      <p:ext uri="{BB962C8B-B14F-4D97-AF65-F5344CB8AC3E}">
        <p14:creationId xmlns:p14="http://schemas.microsoft.com/office/powerpoint/2010/main" val="166495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1000"/>
                                        <p:tgtEl>
                                          <p:spTgt spid="9">
                                            <p:txEl>
                                              <p:pRg st="1" end="1"/>
                                            </p:txEl>
                                          </p:spTgt>
                                        </p:tgtEl>
                                      </p:cBhvr>
                                    </p:animEffect>
                                    <p:anim calcmode="lin" valueType="num">
                                      <p:cBhvr>
                                        <p:cTn id="14"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fade">
                                      <p:cBhvr>
                                        <p:cTn id="20" dur="1000"/>
                                        <p:tgtEl>
                                          <p:spTgt spid="9">
                                            <p:txEl>
                                              <p:pRg st="2" end="2"/>
                                            </p:txEl>
                                          </p:spTgt>
                                        </p:tgtEl>
                                      </p:cBhvr>
                                    </p:animEffect>
                                    <p:anim calcmode="lin" valueType="num">
                                      <p:cBhvr>
                                        <p:cTn id="21"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fade">
                                      <p:cBhvr>
                                        <p:cTn id="27" dur="1000"/>
                                        <p:tgtEl>
                                          <p:spTgt spid="9">
                                            <p:txEl>
                                              <p:pRg st="3" end="3"/>
                                            </p:txEl>
                                          </p:spTgt>
                                        </p:tgtEl>
                                      </p:cBhvr>
                                    </p:animEffect>
                                    <p:anim calcmode="lin" valueType="num">
                                      <p:cBhvr>
                                        <p:cTn id="2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xEl>
                                              <p:pRg st="4" end="4"/>
                                            </p:txEl>
                                          </p:spTgt>
                                        </p:tgtEl>
                                        <p:attrNameLst>
                                          <p:attrName>style.visibility</p:attrName>
                                        </p:attrNameLst>
                                      </p:cBhvr>
                                      <p:to>
                                        <p:strVal val="visible"/>
                                      </p:to>
                                    </p:set>
                                    <p:animEffect transition="in" filter="fade">
                                      <p:cBhvr>
                                        <p:cTn id="34" dur="1000"/>
                                        <p:tgtEl>
                                          <p:spTgt spid="9">
                                            <p:txEl>
                                              <p:pRg st="4" end="4"/>
                                            </p:txEl>
                                          </p:spTgt>
                                        </p:tgtEl>
                                      </p:cBhvr>
                                    </p:animEffect>
                                    <p:anim calcmode="lin" valueType="num">
                                      <p:cBhvr>
                                        <p:cTn id="3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3CA309-82F2-A8F3-B7AA-E0DC811E0941}"/>
              </a:ext>
            </a:extLst>
          </p:cNvPr>
          <p:cNvSpPr txBox="1"/>
          <p:nvPr/>
        </p:nvSpPr>
        <p:spPr>
          <a:xfrm>
            <a:off x="1219200" y="1447800"/>
            <a:ext cx="7611721" cy="4308872"/>
          </a:xfrm>
          <a:prstGeom prst="rect">
            <a:avLst/>
          </a:prstGeom>
          <a:noFill/>
        </p:spPr>
        <p:txBody>
          <a:bodyPr wrap="square" rtlCol="0">
            <a:spAutoFit/>
          </a:bodyPr>
          <a:lstStyle/>
          <a:p>
            <a:r>
              <a:rPr lang="en-US" sz="2000" b="1" dirty="0"/>
              <a:t>Grade of concrete used for the experiment :- M20 (1:1.5:3)</a:t>
            </a:r>
          </a:p>
          <a:p>
            <a:endParaRPr lang="en-US" sz="2000" b="1" dirty="0"/>
          </a:p>
          <a:p>
            <a:r>
              <a:rPr lang="en-US" b="1" dirty="0"/>
              <a:t>Mixing and Casting</a:t>
            </a:r>
          </a:p>
          <a:p>
            <a:endParaRPr lang="en-US" b="1" dirty="0"/>
          </a:p>
          <a:p>
            <a:pPr algn="just"/>
            <a:r>
              <a:rPr lang="en-US" b="1" dirty="0"/>
              <a:t>Dry Mixing: </a:t>
            </a:r>
            <a:r>
              <a:rPr lang="en-US" dirty="0"/>
              <a:t>Initially, the dry materials—cement, fine aggregate, coarse aggregate, and coconut shell aggregate—are mixed thoroughly in a drum or pan mixer to ensure uniformity.</a:t>
            </a:r>
          </a:p>
          <a:p>
            <a:pPr algn="just"/>
            <a:endParaRPr lang="en-US" b="1" dirty="0"/>
          </a:p>
          <a:p>
            <a:pPr algn="just"/>
            <a:r>
              <a:rPr lang="en-US" b="1" dirty="0"/>
              <a:t>Wet Mixing and </a:t>
            </a:r>
            <a:r>
              <a:rPr lang="en-US" b="1" dirty="0" err="1"/>
              <a:t>Fibre</a:t>
            </a:r>
            <a:r>
              <a:rPr lang="en-US" b="1" dirty="0"/>
              <a:t> Addition: </a:t>
            </a:r>
            <a:r>
              <a:rPr lang="en-US" dirty="0"/>
              <a:t>A pre-determined amount of water (with the superplasticizer dissolved in it) is added to the dry mix. The </a:t>
            </a:r>
            <a:r>
              <a:rPr lang="en-US" dirty="0" err="1"/>
              <a:t>fibres</a:t>
            </a:r>
            <a:r>
              <a:rPr lang="en-US" dirty="0"/>
              <a:t> (both glass and, if used, coconut </a:t>
            </a:r>
            <a:r>
              <a:rPr lang="en-US" dirty="0" err="1"/>
              <a:t>fibres</a:t>
            </a:r>
            <a:r>
              <a:rPr lang="en-US" dirty="0"/>
              <a:t>) are added during the wet mixing process to ensure even dispersion and prevent clumping.</a:t>
            </a:r>
          </a:p>
          <a:p>
            <a:pPr algn="just"/>
            <a:endParaRPr lang="en-US" b="1" dirty="0"/>
          </a:p>
          <a:p>
            <a:pPr algn="just"/>
            <a:r>
              <a:rPr lang="en-US" b="1" dirty="0"/>
              <a:t>Workability Test: </a:t>
            </a:r>
            <a:r>
              <a:rPr lang="en-US" dirty="0"/>
              <a:t>Perform a slump test on the fresh concrete to check workability and ensure it is within the desired range.</a:t>
            </a:r>
          </a:p>
        </p:txBody>
      </p:sp>
      <p:pic>
        <p:nvPicPr>
          <p:cNvPr id="3" name="Picture 2">
            <a:extLst>
              <a:ext uri="{FF2B5EF4-FFF2-40B4-BE49-F238E27FC236}">
                <a16:creationId xmlns:a16="http://schemas.microsoft.com/office/drawing/2014/main" id="{26044CE2-9EA4-789C-62F3-68E8D587285D}"/>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132186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5"/>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4B0C1E-3D99-837A-5F29-ED1CDF9CA868}"/>
              </a:ext>
            </a:extLst>
          </p:cNvPr>
          <p:cNvSpPr txBox="1"/>
          <p:nvPr/>
        </p:nvSpPr>
        <p:spPr>
          <a:xfrm>
            <a:off x="1409700" y="685800"/>
            <a:ext cx="7239000" cy="2585323"/>
          </a:xfrm>
          <a:prstGeom prst="rect">
            <a:avLst/>
          </a:prstGeom>
          <a:noFill/>
        </p:spPr>
        <p:txBody>
          <a:bodyPr wrap="square">
            <a:spAutoFit/>
          </a:bodyPr>
          <a:lstStyle/>
          <a:p>
            <a:pPr algn="just"/>
            <a:r>
              <a:rPr lang="en-US" b="1" dirty="0"/>
              <a:t>Casting Specimens: </a:t>
            </a:r>
            <a:r>
              <a:rPr lang="en-US" dirty="0"/>
              <a:t>The fresh concrete is poured into standard </a:t>
            </a:r>
            <a:r>
              <a:rPr lang="en-US" dirty="0" err="1"/>
              <a:t>moulds</a:t>
            </a:r>
            <a:r>
              <a:rPr lang="en-US" dirty="0"/>
              <a:t> (e.g., 150 mm cubes for compressive strength, 150 mm diameter x 300 mm cylinders for split tensile strength, and beams for flexural strength) in layers. Each layer is compacted using a tamping rod and/or a concrete vibrator to remove air voids.</a:t>
            </a:r>
          </a:p>
          <a:p>
            <a:pPr algn="just"/>
            <a:endParaRPr lang="en-US" b="1" dirty="0"/>
          </a:p>
          <a:p>
            <a:pPr algn="just"/>
            <a:r>
              <a:rPr lang="en-US" b="1" dirty="0"/>
              <a:t>Initial Curing: </a:t>
            </a:r>
            <a:r>
              <a:rPr lang="en-US" dirty="0"/>
              <a:t>The specimens are kept undisturbed for 24 hours at room temperature and covered with a plastic sheet or wet burlap to prevent moisture loss. </a:t>
            </a:r>
          </a:p>
        </p:txBody>
      </p:sp>
      <p:sp>
        <p:nvSpPr>
          <p:cNvPr id="5" name="TextBox 4">
            <a:extLst>
              <a:ext uri="{FF2B5EF4-FFF2-40B4-BE49-F238E27FC236}">
                <a16:creationId xmlns:a16="http://schemas.microsoft.com/office/drawing/2014/main" id="{F74B92D4-C8AA-8DB8-1E1E-85C9A4032313}"/>
              </a:ext>
            </a:extLst>
          </p:cNvPr>
          <p:cNvSpPr txBox="1"/>
          <p:nvPr/>
        </p:nvSpPr>
        <p:spPr>
          <a:xfrm>
            <a:off x="1409700" y="3352800"/>
            <a:ext cx="7467600" cy="3170099"/>
          </a:xfrm>
          <a:prstGeom prst="rect">
            <a:avLst/>
          </a:prstGeom>
          <a:noFill/>
        </p:spPr>
        <p:txBody>
          <a:bodyPr wrap="square">
            <a:spAutoFit/>
          </a:bodyPr>
          <a:lstStyle/>
          <a:p>
            <a:pPr algn="just">
              <a:buFont typeface="Courier New" panose="02070309020205020404" pitchFamily="49" charset="0"/>
              <a:buChar char="o"/>
            </a:pPr>
            <a:r>
              <a:rPr lang="en-US" b="1" dirty="0"/>
              <a:t>Demoulding and Curing: </a:t>
            </a:r>
            <a:r>
              <a:rPr lang="en-US" dirty="0"/>
              <a:t>After 24 hours, the specimens are demolded and immediately submerged in clean fresh water in a curing tank, maintained at a specific temperature (e.g., 27 ± 2°C) until the designated testing age.</a:t>
            </a:r>
          </a:p>
          <a:p>
            <a:pPr algn="just">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Mechanical Testing:</a:t>
            </a:r>
          </a:p>
          <a:p>
            <a:pPr algn="just">
              <a:buFont typeface="Courier New" panose="02070309020205020404" pitchFamily="49" charset="0"/>
              <a:buChar char="o"/>
            </a:pPr>
            <a:r>
              <a:rPr lang="en-US" b="1" dirty="0"/>
              <a:t>Compressive Strength: </a:t>
            </a:r>
            <a:r>
              <a:rPr lang="en-US" dirty="0"/>
              <a:t>Test the cubes at specified ages (e.g., 7, 14, and 28 days) using a compression testing machine as per standards like IS 516.</a:t>
            </a:r>
          </a:p>
          <a:p>
            <a:pPr algn="just">
              <a:buFont typeface="Courier New" panose="02070309020205020404" pitchFamily="49" charset="0"/>
              <a:buChar char="o"/>
            </a:pPr>
            <a:r>
              <a:rPr lang="en-US" b="1" dirty="0"/>
              <a:t>Split Tensile Strength: </a:t>
            </a:r>
            <a:r>
              <a:rPr lang="en-US" dirty="0"/>
              <a:t>Test the cylinders at the specified ages (e.g., 28 days) using a universal testing machine according to standards like IS 5816.</a:t>
            </a:r>
          </a:p>
          <a:p>
            <a:pPr algn="just">
              <a:buFont typeface="Courier New" panose="02070309020205020404" pitchFamily="49" charset="0"/>
              <a:buChar char="o"/>
            </a:pPr>
            <a:r>
              <a:rPr lang="en-US" b="1" dirty="0"/>
              <a:t>Flexural Strength: </a:t>
            </a:r>
            <a:r>
              <a:rPr lang="en-US" dirty="0"/>
              <a:t>Test the beam specimens at the specified ages using a flexural testing machine, often with a three- or four-point loading method as per standards like ASTM C78.</a:t>
            </a:r>
          </a:p>
        </p:txBody>
      </p:sp>
      <p:pic>
        <p:nvPicPr>
          <p:cNvPr id="6" name="Picture 5">
            <a:extLst>
              <a:ext uri="{FF2B5EF4-FFF2-40B4-BE49-F238E27FC236}">
                <a16:creationId xmlns:a16="http://schemas.microsoft.com/office/drawing/2014/main" id="{3374321D-FF95-1573-D8B4-2FA7B494E1EB}"/>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946505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EAC798-4869-29F8-2B50-22645A209AE0}"/>
              </a:ext>
            </a:extLst>
          </p:cNvPr>
          <p:cNvSpPr/>
          <p:nvPr/>
        </p:nvSpPr>
        <p:spPr>
          <a:xfrm>
            <a:off x="1295400" y="1676400"/>
            <a:ext cx="7696200" cy="4093428"/>
          </a:xfrm>
          <a:prstGeom prst="rect">
            <a:avLst/>
          </a:prstGeom>
        </p:spPr>
        <p:txBody>
          <a:bodyPr wrap="square">
            <a:spAutoFit/>
          </a:bodyPr>
          <a:lstStyle/>
          <a:p>
            <a:r>
              <a:rPr lang="en-US" sz="2000" b="1" dirty="0"/>
              <a:t>Material Preparation</a:t>
            </a:r>
          </a:p>
          <a:p>
            <a:endParaRPr lang="en-US" sz="1600" dirty="0"/>
          </a:p>
          <a:p>
            <a:pPr marL="285750" indent="-285750" algn="just">
              <a:buFont typeface="Courier New" panose="02070309020205020404" pitchFamily="49" charset="0"/>
              <a:buChar char="o"/>
            </a:pPr>
            <a:r>
              <a:rPr lang="en-US" sz="1600" b="1" dirty="0"/>
              <a:t>Coconut Shells (CS): </a:t>
            </a:r>
            <a:r>
              <a:rPr lang="en-US" sz="1600" dirty="0"/>
              <a:t>Acquire waste coconut shells, clean them to remove impurities, and air-dry them. Crush the shells to a specific size range, typically 4.75 mm to 12.5 mm or 12.5 mm to 20 mm, to be used as a partial replacement for conventional coarse aggregate. Due to high water absorption, the CS aggregates should be used in a Saturated Surface Dry (SSD) condition, often achieved by oven-drying to a constant weight and then accounting for absorption, or pre-soaking.</a:t>
            </a:r>
          </a:p>
          <a:p>
            <a:pPr marL="285750" indent="-285750" algn="just">
              <a:buFont typeface="Courier New" panose="02070309020205020404" pitchFamily="49" charset="0"/>
              <a:buChar char="o"/>
            </a:pPr>
            <a:endParaRPr lang="en-US" sz="1600" dirty="0"/>
          </a:p>
          <a:p>
            <a:pPr marL="285750" indent="-285750" algn="just">
              <a:buFont typeface="Courier New" panose="02070309020205020404" pitchFamily="49" charset="0"/>
              <a:buChar char="o"/>
            </a:pPr>
            <a:r>
              <a:rPr lang="en-US" sz="1600" b="1" dirty="0"/>
              <a:t>Glass Fibers (GF): </a:t>
            </a:r>
            <a:r>
              <a:rPr lang="en-US" sz="1600" dirty="0"/>
              <a:t>Use commercially available Alkali-Resistant (AR) glass </a:t>
            </a:r>
            <a:r>
              <a:rPr lang="en-US" sz="1600" dirty="0" err="1"/>
              <a:t>fibres</a:t>
            </a:r>
            <a:r>
              <a:rPr lang="en-US" sz="1600" dirty="0"/>
              <a:t>, typically with a length of 13 mm to 18 mm and varying aspect ratios. The </a:t>
            </a:r>
            <a:r>
              <a:rPr lang="en-US" sz="1600" dirty="0" err="1"/>
              <a:t>fibres</a:t>
            </a:r>
            <a:r>
              <a:rPr lang="en-US" sz="1600" dirty="0"/>
              <a:t> should be dispersed uniformly to avoid balling effects during mixing.</a:t>
            </a:r>
          </a:p>
          <a:p>
            <a:pPr marL="285750" indent="-285750" algn="just">
              <a:buFont typeface="Courier New" panose="02070309020205020404" pitchFamily="49" charset="0"/>
              <a:buChar char="o"/>
            </a:pPr>
            <a:endParaRPr lang="en-US" sz="1600" b="1" dirty="0"/>
          </a:p>
          <a:p>
            <a:pPr marL="285750" indent="-285750" algn="just">
              <a:buFont typeface="Courier New" panose="02070309020205020404" pitchFamily="49" charset="0"/>
              <a:buChar char="o"/>
            </a:pPr>
            <a:r>
              <a:rPr lang="en-US" sz="1600" b="1" dirty="0"/>
              <a:t>Other Materials: </a:t>
            </a:r>
            <a:r>
              <a:rPr lang="en-US" sz="1600" dirty="0"/>
              <a:t>Use ordinary Portland cement (OPC) (e.g., 53 grade), fine aggregate (river sand or M-sand), coarse aggregate (crushed stone), water, and a high-range water-reducing admixture (superplasticizer) to maintain workability.</a:t>
            </a:r>
          </a:p>
        </p:txBody>
      </p:sp>
      <p:pic>
        <p:nvPicPr>
          <p:cNvPr id="3" name="Picture 2">
            <a:extLst>
              <a:ext uri="{FF2B5EF4-FFF2-40B4-BE49-F238E27FC236}">
                <a16:creationId xmlns:a16="http://schemas.microsoft.com/office/drawing/2014/main" id="{7E4C64C3-66F6-0BEB-3791-7EE1BE045A74}"/>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4551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 calcmode="lin" valueType="num">
                                      <p:cBhvr>
                                        <p:cTn id="21"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 calcmode="lin" valueType="num">
                                      <p:cBhvr>
                                        <p:cTn id="28"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29"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30"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4"/>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13B1E28-AB5E-B14F-D95A-567A3BDBC23A}"/>
              </a:ext>
            </a:extLst>
          </p:cNvPr>
          <p:cNvGraphicFramePr>
            <a:graphicFrameLocks noGrp="1"/>
          </p:cNvGraphicFramePr>
          <p:nvPr>
            <p:extLst>
              <p:ext uri="{D42A27DB-BD31-4B8C-83A1-F6EECF244321}">
                <p14:modId xmlns:p14="http://schemas.microsoft.com/office/powerpoint/2010/main" val="3231536098"/>
              </p:ext>
            </p:extLst>
          </p:nvPr>
        </p:nvGraphicFramePr>
        <p:xfrm>
          <a:off x="1752600" y="1600200"/>
          <a:ext cx="6942668" cy="1507067"/>
        </p:xfrm>
        <a:graphic>
          <a:graphicData uri="http://schemas.openxmlformats.org/drawingml/2006/table">
            <a:tbl>
              <a:tblPr firstRow="1" bandRow="1">
                <a:tableStyleId>{5C22544A-7EE6-4342-B048-85BDC9FD1C3A}</a:tableStyleId>
              </a:tblPr>
              <a:tblGrid>
                <a:gridCol w="3471334">
                  <a:extLst>
                    <a:ext uri="{9D8B030D-6E8A-4147-A177-3AD203B41FA5}">
                      <a16:colId xmlns:a16="http://schemas.microsoft.com/office/drawing/2014/main" val="20000"/>
                    </a:ext>
                  </a:extLst>
                </a:gridCol>
                <a:gridCol w="3471334">
                  <a:extLst>
                    <a:ext uri="{9D8B030D-6E8A-4147-A177-3AD203B41FA5}">
                      <a16:colId xmlns:a16="http://schemas.microsoft.com/office/drawing/2014/main" val="20001"/>
                    </a:ext>
                  </a:extLst>
                </a:gridCol>
              </a:tblGrid>
              <a:tr h="309316">
                <a:tc>
                  <a:txBody>
                    <a:bodyPr/>
                    <a:lstStyle/>
                    <a:p>
                      <a:pPr algn="just"/>
                      <a:r>
                        <a:rPr lang="en-IN" dirty="0">
                          <a:latin typeface="Times New Roman" pitchFamily="18" charset="0"/>
                          <a:cs typeface="Times New Roman" pitchFamily="18" charset="0"/>
                        </a:rPr>
                        <a:t>No. of Days</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Compressive Strength</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09316">
                <a:tc>
                  <a:txBody>
                    <a:bodyPr/>
                    <a:lstStyle/>
                    <a:p>
                      <a:pPr algn="just"/>
                      <a:r>
                        <a:rPr lang="en-IN" dirty="0">
                          <a:latin typeface="Times New Roman" pitchFamily="18" charset="0"/>
                          <a:cs typeface="Times New Roman" pitchFamily="18" charset="0"/>
                        </a:rPr>
                        <a:t>7Days </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14.67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09316">
                <a:tc>
                  <a:txBody>
                    <a:bodyPr/>
                    <a:lstStyle/>
                    <a:p>
                      <a:pPr algn="just"/>
                      <a:r>
                        <a:rPr lang="en-IN" dirty="0">
                          <a:latin typeface="Times New Roman" pitchFamily="18" charset="0"/>
                          <a:cs typeface="Times New Roman" pitchFamily="18" charset="0"/>
                        </a:rPr>
                        <a:t>14Days</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16.43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409787">
                <a:tc>
                  <a:txBody>
                    <a:bodyPr/>
                    <a:lstStyle/>
                    <a:p>
                      <a:pPr algn="just"/>
                      <a:r>
                        <a:rPr lang="en-IN" dirty="0">
                          <a:latin typeface="Times New Roman" pitchFamily="18" charset="0"/>
                          <a:cs typeface="Times New Roman" pitchFamily="18" charset="0"/>
                        </a:rPr>
                        <a:t>28 Days </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19.79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6F9569DC-E8C0-3FBD-78A6-EE1476082339}"/>
              </a:ext>
            </a:extLst>
          </p:cNvPr>
          <p:cNvSpPr txBox="1"/>
          <p:nvPr/>
        </p:nvSpPr>
        <p:spPr>
          <a:xfrm>
            <a:off x="1659467" y="668867"/>
            <a:ext cx="9211734" cy="461665"/>
          </a:xfrm>
          <a:prstGeom prst="rect">
            <a:avLst/>
          </a:prstGeom>
          <a:noFill/>
        </p:spPr>
        <p:txBody>
          <a:bodyPr wrap="square" rtlCol="0">
            <a:spAutoFit/>
          </a:bodyPr>
          <a:lstStyle/>
          <a:p>
            <a:r>
              <a:rPr lang="en-IN" sz="2400" b="1" dirty="0">
                <a:latin typeface="Times New Roman" pitchFamily="18" charset="0"/>
                <a:cs typeface="Times New Roman" pitchFamily="18" charset="0"/>
              </a:rPr>
              <a:t>Compressive Strength :-</a:t>
            </a:r>
          </a:p>
        </p:txBody>
      </p:sp>
      <p:pic>
        <p:nvPicPr>
          <p:cNvPr id="10" name="Picture 9" descr="WhatsApp Image 2025-12-09 at 10.03.31 AM (1).jpeg">
            <a:extLst>
              <a:ext uri="{FF2B5EF4-FFF2-40B4-BE49-F238E27FC236}">
                <a16:creationId xmlns:a16="http://schemas.microsoft.com/office/drawing/2014/main" id="{FE3E195A-C14F-ED2E-3F77-E2CB9FB9E37B}"/>
              </a:ext>
            </a:extLst>
          </p:cNvPr>
          <p:cNvPicPr>
            <a:picLocks noChangeAspect="1"/>
          </p:cNvPicPr>
          <p:nvPr/>
        </p:nvPicPr>
        <p:blipFill>
          <a:blip r:embed="rId2"/>
          <a:srcRect t="12760" r="15111" b="32048"/>
          <a:stretch>
            <a:fillRect/>
          </a:stretch>
        </p:blipFill>
        <p:spPr>
          <a:xfrm>
            <a:off x="1295400" y="3429000"/>
            <a:ext cx="2133600" cy="2378882"/>
          </a:xfrm>
          <a:prstGeom prst="rect">
            <a:avLst/>
          </a:prstGeom>
        </p:spPr>
      </p:pic>
      <p:pic>
        <p:nvPicPr>
          <p:cNvPr id="11" name="Picture 10" descr="WhatsApp Image 2025-12-09 at 7.37.58 AM.jpeg">
            <a:extLst>
              <a:ext uri="{FF2B5EF4-FFF2-40B4-BE49-F238E27FC236}">
                <a16:creationId xmlns:a16="http://schemas.microsoft.com/office/drawing/2014/main" id="{885816CB-E132-7EC3-FF57-216E08477732}"/>
              </a:ext>
            </a:extLst>
          </p:cNvPr>
          <p:cNvPicPr>
            <a:picLocks noChangeAspect="1"/>
          </p:cNvPicPr>
          <p:nvPr/>
        </p:nvPicPr>
        <p:blipFill>
          <a:blip r:embed="rId3"/>
          <a:srcRect l="10255" t="24568" b="13457"/>
          <a:stretch>
            <a:fillRect/>
          </a:stretch>
        </p:blipFill>
        <p:spPr>
          <a:xfrm>
            <a:off x="3962400" y="3401624"/>
            <a:ext cx="2040467" cy="2506264"/>
          </a:xfrm>
          <a:prstGeom prst="rect">
            <a:avLst/>
          </a:prstGeom>
        </p:spPr>
      </p:pic>
      <p:pic>
        <p:nvPicPr>
          <p:cNvPr id="12" name="Picture 11" descr="WhatsApp Image 2025-12-09 at 7.37.57 AM.jpeg">
            <a:extLst>
              <a:ext uri="{FF2B5EF4-FFF2-40B4-BE49-F238E27FC236}">
                <a16:creationId xmlns:a16="http://schemas.microsoft.com/office/drawing/2014/main" id="{0125B741-6989-E45B-02B5-413508801C82}"/>
              </a:ext>
            </a:extLst>
          </p:cNvPr>
          <p:cNvPicPr>
            <a:picLocks noChangeAspect="1"/>
          </p:cNvPicPr>
          <p:nvPr/>
        </p:nvPicPr>
        <p:blipFill>
          <a:blip r:embed="rId4"/>
          <a:srcRect t="30247" b="15432"/>
          <a:stretch>
            <a:fillRect/>
          </a:stretch>
        </p:blipFill>
        <p:spPr>
          <a:xfrm>
            <a:off x="6536267" y="3437215"/>
            <a:ext cx="2453659" cy="2506264"/>
          </a:xfrm>
          <a:prstGeom prst="rect">
            <a:avLst/>
          </a:prstGeom>
        </p:spPr>
      </p:pic>
      <p:sp>
        <p:nvSpPr>
          <p:cNvPr id="13" name="TextBox 12">
            <a:extLst>
              <a:ext uri="{FF2B5EF4-FFF2-40B4-BE49-F238E27FC236}">
                <a16:creationId xmlns:a16="http://schemas.microsoft.com/office/drawing/2014/main" id="{F50F9CD8-33A3-0AA5-F375-5E4934C710E3}"/>
              </a:ext>
            </a:extLst>
          </p:cNvPr>
          <p:cNvSpPr txBox="1"/>
          <p:nvPr/>
        </p:nvSpPr>
        <p:spPr>
          <a:xfrm>
            <a:off x="1037166" y="5940337"/>
            <a:ext cx="2650067" cy="369332"/>
          </a:xfrm>
          <a:prstGeom prst="rect">
            <a:avLst/>
          </a:prstGeom>
          <a:noFill/>
        </p:spPr>
        <p:txBody>
          <a:bodyPr wrap="square" rtlCol="0">
            <a:spAutoFit/>
          </a:bodyPr>
          <a:lstStyle/>
          <a:p>
            <a:pPr algn="ctr"/>
            <a:r>
              <a:rPr lang="en-IN" dirty="0"/>
              <a:t>Curing </a:t>
            </a:r>
            <a:endParaRPr lang="en-US" dirty="0"/>
          </a:p>
        </p:txBody>
      </p:sp>
      <p:sp>
        <p:nvSpPr>
          <p:cNvPr id="14" name="TextBox 13">
            <a:extLst>
              <a:ext uri="{FF2B5EF4-FFF2-40B4-BE49-F238E27FC236}">
                <a16:creationId xmlns:a16="http://schemas.microsoft.com/office/drawing/2014/main" id="{C8AF5F3E-1A5E-890D-5E3C-EED376CC4181}"/>
              </a:ext>
            </a:extLst>
          </p:cNvPr>
          <p:cNvSpPr txBox="1"/>
          <p:nvPr/>
        </p:nvSpPr>
        <p:spPr>
          <a:xfrm>
            <a:off x="3687233" y="5966198"/>
            <a:ext cx="3378200" cy="369332"/>
          </a:xfrm>
          <a:prstGeom prst="rect">
            <a:avLst/>
          </a:prstGeom>
          <a:noFill/>
        </p:spPr>
        <p:txBody>
          <a:bodyPr wrap="square" rtlCol="0">
            <a:spAutoFit/>
          </a:bodyPr>
          <a:lstStyle/>
          <a:p>
            <a:r>
              <a:rPr lang="en-IN" dirty="0"/>
              <a:t>Compressive Strength Test  </a:t>
            </a:r>
            <a:endParaRPr lang="en-US" dirty="0"/>
          </a:p>
        </p:txBody>
      </p:sp>
      <p:sp>
        <p:nvSpPr>
          <p:cNvPr id="15" name="TextBox 14">
            <a:extLst>
              <a:ext uri="{FF2B5EF4-FFF2-40B4-BE49-F238E27FC236}">
                <a16:creationId xmlns:a16="http://schemas.microsoft.com/office/drawing/2014/main" id="{2AE30A23-3542-7FC1-0A5C-E6572390720C}"/>
              </a:ext>
            </a:extLst>
          </p:cNvPr>
          <p:cNvSpPr txBox="1"/>
          <p:nvPr/>
        </p:nvSpPr>
        <p:spPr>
          <a:xfrm>
            <a:off x="6616701" y="6027650"/>
            <a:ext cx="2980266" cy="369332"/>
          </a:xfrm>
          <a:prstGeom prst="rect">
            <a:avLst/>
          </a:prstGeom>
          <a:noFill/>
        </p:spPr>
        <p:txBody>
          <a:bodyPr wrap="square" rtlCol="0">
            <a:spAutoFit/>
          </a:bodyPr>
          <a:lstStyle/>
          <a:p>
            <a:r>
              <a:rPr lang="en-IN" dirty="0"/>
              <a:t>Specimen after Loading</a:t>
            </a:r>
            <a:endParaRPr lang="en-US" dirty="0"/>
          </a:p>
        </p:txBody>
      </p:sp>
      <p:pic>
        <p:nvPicPr>
          <p:cNvPr id="16" name="Picture 15">
            <a:extLst>
              <a:ext uri="{FF2B5EF4-FFF2-40B4-BE49-F238E27FC236}">
                <a16:creationId xmlns:a16="http://schemas.microsoft.com/office/drawing/2014/main" id="{B784E00D-9CEA-F4A8-EB53-D96643405D79}"/>
              </a:ext>
            </a:extLst>
          </p:cNvPr>
          <p:cNvPicPr>
            <a:picLocks noChangeAspect="1"/>
          </p:cNvPicPr>
          <p:nvPr/>
        </p:nvPicPr>
        <p:blipFill>
          <a:blip r:embed="rId5"/>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183964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in)">
                                      <p:cBhvr>
                                        <p:cTn id="11" dur="500"/>
                                        <p:tgtEl>
                                          <p:spTgt spid="3"/>
                                        </p:tgtEl>
                                      </p:cBhvr>
                                    </p:animEffect>
                                  </p:childTnLst>
                                </p:cTn>
                              </p:par>
                              <p:par>
                                <p:cTn id="12" presetID="3" presetClass="entr" presetSubtype="1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par>
                                <p:cTn id="15" presetID="4" presetClass="entr" presetSubtype="16"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par>
                                <p:cTn id="18" presetID="5" presetClass="entr" presetSubtype="1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checkerboard(across)">
                                      <p:cBhvr>
                                        <p:cTn id="20" dur="500"/>
                                        <p:tgtEl>
                                          <p:spTgt spid="1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ox(in)">
                                      <p:cBhvr>
                                        <p:cTn id="26" dur="500"/>
                                        <p:tgtEl>
                                          <p:spTgt spid="14"/>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checkerboard(across)">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57-445B-FA9D-658B-E13F17EE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5196-3E35-2F93-92F3-AF001BC22AFB}"/>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Conclusion &amp; Future Work</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739B26-CED1-BB41-57AE-DA1A0EC9A55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7" name="Content Placeholder 2">
            <a:extLst>
              <a:ext uri="{FF2B5EF4-FFF2-40B4-BE49-F238E27FC236}">
                <a16:creationId xmlns:a16="http://schemas.microsoft.com/office/drawing/2014/main" id="{B2B01FC0-5DC3-6EBF-6804-624E17EDE241}"/>
              </a:ext>
            </a:extLst>
          </p:cNvPr>
          <p:cNvSpPr>
            <a:spLocks noGrp="1"/>
          </p:cNvSpPr>
          <p:nvPr>
            <p:ph type="subTitle" idx="1"/>
          </p:nvPr>
        </p:nvSpPr>
        <p:spPr>
          <a:xfrm>
            <a:off x="1244115" y="1407600"/>
            <a:ext cx="7407275" cy="2417762"/>
          </a:xfrm>
        </p:spPr>
        <p:txBody>
          <a:bodyPr>
            <a:normAutofit fontScale="92500" lnSpcReduction="10000"/>
          </a:bodyPr>
          <a:lstStyle/>
          <a:p>
            <a:pPr marL="0" indent="0" algn="just">
              <a:buNone/>
            </a:pPr>
            <a:endParaRPr lang="en-US" sz="2000" b="1" dirty="0">
              <a:latin typeface="Times New Roman" panose="02020603050405020304" pitchFamily="18" charset="0"/>
              <a:ea typeface="Times New Roman" panose="02020603050405020304" pitchFamily="18" charset="0"/>
            </a:endParaRPr>
          </a:p>
          <a:p>
            <a:pPr algn="just">
              <a:buFont typeface="Arial" pitchFamily="34" charset="0"/>
              <a:buChar char="•"/>
            </a:pPr>
            <a:r>
              <a:rPr lang="en-US" dirty="0"/>
              <a:t>In conclusion, literature supports the feasibility of "coconut shell and glass fiber concrete" as an eco-friendly and economically viable alternative to conventional concrete, provided appropriate mix designs and material treatments are utilized to manage properties like water absorption and ensure optimal strength development.</a:t>
            </a:r>
            <a:endParaRPr lang="en-US" dirty="0">
              <a:latin typeface="+mj-lt"/>
              <a:ea typeface="Times New Roman" panose="02020603050405020304" pitchFamily="18" charset="0"/>
            </a:endParaRPr>
          </a:p>
        </p:txBody>
      </p:sp>
    </p:spTree>
    <p:extLst>
      <p:ext uri="{BB962C8B-B14F-4D97-AF65-F5344CB8AC3E}">
        <p14:creationId xmlns:p14="http://schemas.microsoft.com/office/powerpoint/2010/main" val="404424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30C7-18C6-E346-27F7-FBCC0F0EA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C67C-F371-AAD0-0211-CDDED8F54A1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Acknowledgements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6BECECE-7E6C-6FB3-7B7D-79417927EA4D}"/>
              </a:ext>
            </a:extLst>
          </p:cNvPr>
          <p:cNvSpPr>
            <a:spLocks noGrp="1"/>
          </p:cNvSpPr>
          <p:nvPr>
            <p:ph type="subTitle" idx="1"/>
          </p:nvPr>
        </p:nvSpPr>
        <p:spPr>
          <a:xfrm>
            <a:off x="1143206" y="1600200"/>
            <a:ext cx="7803292" cy="2057400"/>
          </a:xfrm>
        </p:spPr>
        <p:txBody>
          <a:bodyPr>
            <a:noAutofit/>
          </a:bodyPr>
          <a:lstStyle/>
          <a:p>
            <a:r>
              <a:rPr lang="en-US" sz="2400" b="1" dirty="0">
                <a:latin typeface="Times New Roman" panose="02020603050405020304" pitchFamily="18" charset="0"/>
                <a:cs typeface="Times New Roman" panose="02020603050405020304" pitchFamily="18" charset="0"/>
              </a:rPr>
              <a:t>Guide: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like to express my sincere and heartfelt gratitude to my respected guide </a:t>
            </a:r>
            <a:r>
              <a:rPr lang="en-US" sz="1800" b="1" dirty="0">
                <a:latin typeface="Times New Roman" panose="02020603050405020304" pitchFamily="18" charset="0"/>
                <a:cs typeface="Times New Roman" panose="02020603050405020304" pitchFamily="18" charset="0"/>
              </a:rPr>
              <a:t>Mr. Rahul Shukla</a:t>
            </a:r>
            <a:r>
              <a:rPr lang="en-US" sz="1800" dirty="0">
                <a:latin typeface="Times New Roman" panose="02020603050405020304" pitchFamily="18" charset="0"/>
                <a:cs typeface="Times New Roman" panose="02020603050405020304" pitchFamily="18" charset="0"/>
              </a:rPr>
              <a:t>, Assistant Professor Department of Civil Engineering, for his constant guidance, valuable suggestions, motivation, and continuous support throughout the completion of this research work. His technical expertise and encouragement helped me in successfully completing this study.</a:t>
            </a:r>
          </a:p>
        </p:txBody>
      </p:sp>
      <p:pic>
        <p:nvPicPr>
          <p:cNvPr id="4" name="Picture 3">
            <a:extLst>
              <a:ext uri="{FF2B5EF4-FFF2-40B4-BE49-F238E27FC236}">
                <a16:creationId xmlns:a16="http://schemas.microsoft.com/office/drawing/2014/main" id="{548AC4D2-53D6-CF00-A185-369DE857649A}"/>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8178EB48-9E7B-DF54-638F-08AD9C872AC6}"/>
              </a:ext>
            </a:extLst>
          </p:cNvPr>
          <p:cNvSpPr txBox="1">
            <a:spLocks/>
          </p:cNvSpPr>
          <p:nvPr/>
        </p:nvSpPr>
        <p:spPr>
          <a:xfrm>
            <a:off x="1166532" y="3810000"/>
            <a:ext cx="7803292" cy="24024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2400" b="1" dirty="0">
                <a:latin typeface="Times New Roman" panose="02020603050405020304" pitchFamily="18" charset="0"/>
                <a:cs typeface="Times New Roman" panose="02020603050405020304" pitchFamily="18" charset="0"/>
              </a:rPr>
              <a:t>Institution: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also like to express my sincere thanks to </a:t>
            </a:r>
            <a:r>
              <a:rPr lang="en-US" sz="1800" b="1" dirty="0">
                <a:latin typeface="Times New Roman" panose="02020603050405020304" pitchFamily="18" charset="0"/>
                <a:cs typeface="Times New Roman" panose="02020603050405020304" pitchFamily="18" charset="0"/>
              </a:rPr>
              <a:t>Buddha Institute of Technology, Gorakhpur</a:t>
            </a:r>
            <a:r>
              <a:rPr lang="en-US" sz="1800" dirty="0">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p:txBody>
      </p:sp>
    </p:spTree>
    <p:extLst>
      <p:ext uri="{BB962C8B-B14F-4D97-AF65-F5344CB8AC3E}">
        <p14:creationId xmlns:p14="http://schemas.microsoft.com/office/powerpoint/2010/main" val="3429819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22D9-E11C-5458-3D9F-E3F4665C2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40733-8E58-A4C8-C37E-DFE4537C227B}"/>
              </a:ext>
            </a:extLst>
          </p:cNvPr>
          <p:cNvSpPr>
            <a:spLocks noGrp="1"/>
          </p:cNvSpPr>
          <p:nvPr>
            <p:ph type="ctrTitle"/>
          </p:nvPr>
        </p:nvSpPr>
        <p:spPr>
          <a:xfrm>
            <a:off x="1600200" y="596949"/>
            <a:ext cx="7162800" cy="706902"/>
          </a:xfrm>
        </p:spPr>
        <p:txBody>
          <a:bodyPr>
            <a:noAutofit/>
          </a:bodyPr>
          <a:lstStyle/>
          <a:p>
            <a:r>
              <a:rPr lang="en-US" sz="4000" dirty="0">
                <a:solidFill>
                  <a:srgbClr val="0070C0"/>
                </a:solidFill>
                <a:latin typeface="Times New Roman" panose="02020603050405020304" pitchFamily="18" charset="0"/>
                <a:cs typeface="Times New Roman" panose="02020603050405020304" pitchFamily="18" charset="0"/>
              </a:rPr>
              <a:t>References</a:t>
            </a: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2573B1-9ABF-BB62-E9EC-653CC14D4831}"/>
              </a:ext>
            </a:extLst>
          </p:cNvPr>
          <p:cNvPicPr>
            <a:picLocks noChangeAspect="1"/>
          </p:cNvPicPr>
          <p:nvPr/>
        </p:nvPicPr>
        <p:blipFill>
          <a:blip r:embed="rId2"/>
          <a:stretch>
            <a:fillRect/>
          </a:stretch>
        </p:blipFill>
        <p:spPr>
          <a:xfrm>
            <a:off x="152400" y="152400"/>
            <a:ext cx="1561556" cy="1407600"/>
          </a:xfrm>
          <a:prstGeom prst="rect">
            <a:avLst/>
          </a:prstGeom>
        </p:spPr>
      </p:pic>
      <p:sp>
        <p:nvSpPr>
          <p:cNvPr id="6" name="Subtitle 5">
            <a:extLst>
              <a:ext uri="{FF2B5EF4-FFF2-40B4-BE49-F238E27FC236}">
                <a16:creationId xmlns:a16="http://schemas.microsoft.com/office/drawing/2014/main" id="{75D2DD6F-EAAC-7DB4-FE45-E4925B5F2486}"/>
              </a:ext>
            </a:extLst>
          </p:cNvPr>
          <p:cNvSpPr>
            <a:spLocks noGrp="1"/>
          </p:cNvSpPr>
          <p:nvPr>
            <p:ph type="subTitle" idx="1"/>
          </p:nvPr>
        </p:nvSpPr>
        <p:spPr>
          <a:xfrm>
            <a:off x="1432560" y="1850064"/>
            <a:ext cx="7406640" cy="2417136"/>
          </a:xfrm>
        </p:spPr>
        <p:txBody>
          <a:bodyPr>
            <a:normAutofit fontScale="77500" lnSpcReduction="20000"/>
          </a:bodyPr>
          <a:lstStyle/>
          <a:p>
            <a:pPr marL="0" algn="just"/>
            <a:r>
              <a:rPr lang="en-US" sz="2000" b="1" dirty="0">
                <a:latin typeface="Times New Roman" panose="02020603050405020304" pitchFamily="18" charset="0"/>
                <a:cs typeface="Times New Roman" panose="02020603050405020304" pitchFamily="18" charset="0"/>
              </a:rPr>
              <a:t> Citations (for a formal paper/report)</a:t>
            </a:r>
          </a:p>
          <a:p>
            <a:pPr marR="365125" lvl="1" algn="just">
              <a:buSzPts val="1000"/>
              <a:buFont typeface="Arial" pitchFamily="34" charset="0"/>
              <a:buChar char="•"/>
              <a:tabLst>
                <a:tab pos="629920" algn="l"/>
                <a:tab pos="631190" algn="l"/>
              </a:tabLst>
            </a:pPr>
            <a:r>
              <a:rPr lang="en-US" b="1" dirty="0">
                <a:latin typeface="Times New Roman" panose="02020603050405020304" pitchFamily="18" charset="0"/>
                <a:cs typeface="Times New Roman" panose="02020603050405020304" pitchFamily="18" charset="0"/>
              </a:rPr>
              <a:t>[1] John, V. M., and D. S. L. T. Santos</a:t>
            </a:r>
            <a:r>
              <a:rPr lang="en-US" dirty="0">
                <a:latin typeface="Times New Roman" panose="02020603050405020304" pitchFamily="18" charset="0"/>
                <a:cs typeface="Times New Roman" panose="02020603050405020304" pitchFamily="18" charset="0"/>
              </a:rPr>
              <a:t>. "Waste materials in concrete: A review." Journal of Cleaner Production, 2020. (Example citation, actual sources would be used).</a:t>
            </a:r>
          </a:p>
          <a:p>
            <a:pPr marR="365125" lvl="1" algn="just">
              <a:buSzPts val="1000"/>
              <a:buFont typeface="Arial" pitchFamily="34" charset="0"/>
              <a:buChar char="•"/>
              <a:tabLst>
                <a:tab pos="629920" algn="l"/>
                <a:tab pos="631190" algn="l"/>
              </a:tabLst>
            </a:pPr>
            <a:r>
              <a:rPr lang="en-US" b="1" dirty="0">
                <a:latin typeface="Times New Roman" panose="02020603050405020304" pitchFamily="18" charset="0"/>
                <a:cs typeface="Times New Roman" panose="02020603050405020304" pitchFamily="18" charset="0"/>
              </a:rPr>
              <a:t>[2] Smith, A. B. </a:t>
            </a:r>
            <a:r>
              <a:rPr lang="en-US" dirty="0">
                <a:latin typeface="Times New Roman" panose="02020603050405020304" pitchFamily="18" charset="0"/>
                <a:cs typeface="Times New Roman" panose="02020603050405020304" pitchFamily="18" charset="0"/>
              </a:rPr>
              <a:t>"Properties of Glass </a:t>
            </a:r>
            <a:r>
              <a:rPr lang="en-US" dirty="0" err="1">
                <a:latin typeface="Times New Roman" panose="02020603050405020304" pitchFamily="18" charset="0"/>
                <a:cs typeface="Times New Roman" panose="02020603050405020304" pitchFamily="18" charset="0"/>
              </a:rPr>
              <a:t>Fibre</a:t>
            </a:r>
            <a:r>
              <a:rPr lang="en-US" dirty="0">
                <a:latin typeface="Times New Roman" panose="02020603050405020304" pitchFamily="18" charset="0"/>
                <a:cs typeface="Times New Roman" panose="02020603050405020304" pitchFamily="18" charset="0"/>
              </a:rPr>
              <a:t> Reinforced Concrete." Cement and Concrete Research, 2018. (Example citation, actual sources would be used).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5209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3873-A732-D926-FCA6-7460609C2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D81AB-8451-A425-B078-6499D1FFD10F}"/>
              </a:ext>
            </a:extLst>
          </p:cNvPr>
          <p:cNvSpPr>
            <a:spLocks noGrp="1"/>
          </p:cNvSpPr>
          <p:nvPr>
            <p:ph type="ctrTitle"/>
          </p:nvPr>
        </p:nvSpPr>
        <p:spPr>
          <a:xfrm>
            <a:off x="1463452" y="426549"/>
            <a:ext cx="7162800" cy="706902"/>
          </a:xfrm>
        </p:spPr>
        <p:txBody>
          <a:bodyPr>
            <a:noAutofit/>
          </a:bodyPr>
          <a:lstStyle/>
          <a:p>
            <a:endParaRPr lang="en-US" dirty="0"/>
          </a:p>
        </p:txBody>
      </p:sp>
      <p:sp>
        <p:nvSpPr>
          <p:cNvPr id="3" name="Subtitle 2">
            <a:extLst>
              <a:ext uri="{FF2B5EF4-FFF2-40B4-BE49-F238E27FC236}">
                <a16:creationId xmlns:a16="http://schemas.microsoft.com/office/drawing/2014/main" id="{948AC15F-A7E2-F31F-4A53-A09C7E20B0FC}"/>
              </a:ext>
            </a:extLst>
          </p:cNvPr>
          <p:cNvSpPr>
            <a:spLocks noGrp="1"/>
          </p:cNvSpPr>
          <p:nvPr>
            <p:ph type="subTitle" idx="1"/>
          </p:nvPr>
        </p:nvSpPr>
        <p:spPr>
          <a:xfrm>
            <a:off x="1143000" y="2971800"/>
            <a:ext cx="7406640" cy="1752600"/>
          </a:xfrm>
        </p:spPr>
        <p:txBody>
          <a:bodyPr>
            <a:normAutofit/>
          </a:bodyPr>
          <a:lstStyle/>
          <a:p>
            <a:pPr algn="ctr"/>
            <a:r>
              <a:rPr lang="en-US" sz="7200" dirty="0">
                <a:solidFill>
                  <a:srgbClr val="C00000"/>
                </a:solidFill>
              </a:rPr>
              <a:t>Thank You</a:t>
            </a:r>
          </a:p>
        </p:txBody>
      </p:sp>
      <p:pic>
        <p:nvPicPr>
          <p:cNvPr id="4" name="Picture 3">
            <a:extLst>
              <a:ext uri="{FF2B5EF4-FFF2-40B4-BE49-F238E27FC236}">
                <a16:creationId xmlns:a16="http://schemas.microsoft.com/office/drawing/2014/main" id="{85522CEB-3A3E-CBC1-B344-320EFE80B952}"/>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54659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185</TotalTime>
  <Words>1741</Words>
  <Application>Microsoft Office PowerPoint</Application>
  <PresentationFormat>On-screen Show (4:3)</PresentationFormat>
  <Paragraphs>100</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Courier New</vt:lpstr>
      <vt:lpstr>Gill Sans MT</vt:lpstr>
      <vt:lpstr>Times New Roman</vt:lpstr>
      <vt:lpstr>Verdana</vt:lpstr>
      <vt:lpstr>Wingdings 2</vt:lpstr>
      <vt:lpstr>Wingdings 3</vt:lpstr>
      <vt:lpstr>Solstice</vt:lpstr>
      <vt:lpstr>1st National Conference on Sustainable Civil Engineering &amp; Geospatial Technologies: Materials &amp; Innovations for Climate Resilience (NCRT-SCE 2026)   Buddha Institute of  Technology  GIDA, Gorakhpur    Date of Conference: 15th – 16th April 2026</vt:lpstr>
      <vt:lpstr>Contents</vt:lpstr>
      <vt:lpstr>Introduction</vt:lpstr>
      <vt:lpstr>Problem Statement</vt:lpstr>
      <vt:lpstr>Objectives</vt:lpstr>
      <vt:lpstr>Literature Survey</vt:lpstr>
      <vt:lpstr> Proposed Solution / Methodology </vt:lpstr>
      <vt:lpstr>Results &amp; Analysis</vt:lpstr>
      <vt:lpstr>PowerPoint Presentation</vt:lpstr>
      <vt:lpstr>PowerPoint Presentation</vt:lpstr>
      <vt:lpstr>PowerPoint Presentation</vt:lpstr>
      <vt:lpstr>PowerPoint Presentation</vt:lpstr>
      <vt:lpstr>Conclusion &amp; Future Work</vt:lpstr>
      <vt:lpstr>Acknowledgements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National Conference on Recent Trends in Science, Engineering and Technology (RTSET-2026)   Buddha Institute of  Technology , GIDA, Gorakhpur    Date of Conference: 27th – 28th March, 2026</dc:title>
  <dc:creator>office</dc:creator>
  <cp:lastModifiedBy>PC</cp:lastModifiedBy>
  <cp:revision>96</cp:revision>
  <dcterms:created xsi:type="dcterms:W3CDTF">2006-08-16T00:00:00Z</dcterms:created>
  <dcterms:modified xsi:type="dcterms:W3CDTF">2026-04-14T19:39:09Z</dcterms:modified>
</cp:coreProperties>
</file>